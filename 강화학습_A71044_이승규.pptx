
<file path=[Content_Types].xml><?xml version="1.0" encoding="utf-8"?>
<Types xmlns="http://schemas.openxmlformats.org/package/2006/content-types">
  <Default Extension="jpg" ContentType="image/jp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4" r:id="rId4"/>
    <p:sldId id="271" r:id="rId5"/>
    <p:sldId id="266" r:id="rId6"/>
    <p:sldId id="269" r:id="rId7"/>
    <p:sldId id="270" r:id="rId8"/>
    <p:sldId id="265" r:id="rId9"/>
    <p:sldId id="267" r:id="rId10"/>
    <p:sldId id="274" r:id="rId11"/>
    <p:sldId id="272" r:id="rId12"/>
    <p:sldId id="273" r:id="rId13"/>
    <p:sldId id="268" r:id="rId14"/>
    <p:sldId id="275" r:id="rId15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>
      <p:cViewPr varScale="1">
        <p:scale>
          <a:sx n="106" d="100"/>
          <a:sy n="106" d="100"/>
        </p:scale>
        <p:origin x="272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F17F2-0068-E14F-911D-A63D4D02CCB5}" type="datetimeFigureOut">
              <a:rPr kumimoji="1" lang="ko-Kore-KR" altLang="en-US" smtClean="0"/>
              <a:t>2025. 12. 7.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9A8BC-66AA-BD47-9390-CE205CDB7F2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65627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9A8BC-66AA-BD47-9390-CE205CDB7F2D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51246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A01ED-2A1E-4E36-5D75-160B595B5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2907E6-E1EE-88D9-3F17-40A49C6B3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DB4AFC-F1B2-4CAC-3C3C-E2F3C9DD1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77A1A-065F-4DD9-62E2-46014F0E4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9A8BC-66AA-BD47-9390-CE205CDB7F2D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0032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19" y="7033260"/>
            <a:ext cx="1427963" cy="43281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950720" y="3767327"/>
            <a:ext cx="6791325" cy="27940"/>
          </a:xfrm>
          <a:custGeom>
            <a:avLst/>
            <a:gdLst/>
            <a:ahLst/>
            <a:cxnLst/>
            <a:rect l="l" t="t" r="r" b="b"/>
            <a:pathLst>
              <a:path w="6791325" h="27939">
                <a:moveTo>
                  <a:pt x="6790944" y="0"/>
                </a:moveTo>
                <a:lnTo>
                  <a:pt x="0" y="0"/>
                </a:lnTo>
                <a:lnTo>
                  <a:pt x="0" y="27432"/>
                </a:lnTo>
                <a:lnTo>
                  <a:pt x="6790944" y="27432"/>
                </a:lnTo>
                <a:lnTo>
                  <a:pt x="6790944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78494" y="3103807"/>
            <a:ext cx="3336410" cy="495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64D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64D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64D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64D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664D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4819" y="7033260"/>
            <a:ext cx="1427963" cy="4328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9516" y="327140"/>
            <a:ext cx="3832860" cy="497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9555" y="1444289"/>
            <a:ext cx="8292465" cy="278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820554" y="7162388"/>
            <a:ext cx="178434" cy="231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0664D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media" Target="../media/media2.mp3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mp3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latin typeface="Malgun Gothic"/>
                <a:cs typeface="Malgun Gothic"/>
              </a:rPr>
              <a:t>강화학습</a:t>
            </a:r>
            <a:r>
              <a:rPr b="1" spc="155" dirty="0">
                <a:latin typeface="Malgun Gothic"/>
                <a:cs typeface="Malgun Gothic"/>
              </a:rPr>
              <a:t> </a:t>
            </a:r>
            <a:r>
              <a:rPr b="1" spc="-20" dirty="0">
                <a:latin typeface="Malgun Gothic"/>
                <a:cs typeface="Malgun Gothic"/>
              </a:rPr>
              <a:t>프로젝트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A637078-E717-279C-64C7-EAC48FC0BE0E}"/>
              </a:ext>
            </a:extLst>
          </p:cNvPr>
          <p:cNvSpPr txBox="1">
            <a:spLocks/>
          </p:cNvSpPr>
          <p:nvPr/>
        </p:nvSpPr>
        <p:spPr>
          <a:xfrm>
            <a:off x="7014904" y="5450276"/>
            <a:ext cx="3496939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altLang="ko-KR" b="1" spc="-20" dirty="0"/>
              <a:t>A71044</a:t>
            </a:r>
            <a:r>
              <a:rPr lang="ko-KR" altLang="en-US" b="1" spc="-20" dirty="0"/>
              <a:t> 이승규</a:t>
            </a:r>
            <a:endParaRPr lang="en-US" altLang="ko-KR" b="1" spc="-2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17AAF-BFAC-BF5E-A43C-0FC03CDACADC}"/>
              </a:ext>
            </a:extLst>
          </p:cNvPr>
          <p:cNvSpPr txBox="1"/>
          <p:nvPr/>
        </p:nvSpPr>
        <p:spPr>
          <a:xfrm>
            <a:off x="3517900" y="6221889"/>
            <a:ext cx="7625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dirty="0"/>
              <a:t>https://github.com/seunggyulee0572/Reinforcement-Learning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9553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dirty="0" err="1"/>
              <a:t>프로젝트</a:t>
            </a:r>
            <a:r>
              <a:rPr spc="155" dirty="0"/>
              <a:t> </a:t>
            </a:r>
            <a:r>
              <a:rPr lang="ko-KR" altLang="en-US" spc="-25" dirty="0"/>
              <a:t>주제 및 목표</a:t>
            </a:r>
            <a:br>
              <a:rPr lang="en-US" altLang="ko-KR" dirty="0"/>
            </a:br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85CBEFF1-79FB-0384-1FFA-E1A866B9C22D}"/>
              </a:ext>
            </a:extLst>
          </p:cNvPr>
          <p:cNvSpPr txBox="1">
            <a:spLocks/>
          </p:cNvSpPr>
          <p:nvPr/>
        </p:nvSpPr>
        <p:spPr>
          <a:xfrm>
            <a:off x="750315" y="1419225"/>
            <a:ext cx="9265384" cy="33406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br>
              <a:rPr lang="ko-KR" altLang="en-US" sz="1800" spc="-25" dirty="0"/>
            </a:br>
            <a:r>
              <a:rPr lang="ko-KR" altLang="en-US" sz="1800" dirty="0"/>
              <a:t>본 프로젝트의 목표는 </a:t>
            </a:r>
            <a:r>
              <a:rPr lang="ko-KR" altLang="en-US" sz="1800" b="1" dirty="0"/>
              <a:t>강화학습</a:t>
            </a:r>
            <a:r>
              <a:rPr lang="en-US" altLang="ko-KR" sz="1800" b="1" dirty="0"/>
              <a:t>(</a:t>
            </a:r>
            <a:r>
              <a:rPr lang="en" altLang="ko-Kore-KR" sz="1800" b="1" dirty="0"/>
              <a:t>Reinforcement Learning)</a:t>
            </a:r>
            <a:r>
              <a:rPr lang="ko-KR" altLang="en-US" sz="1800" b="1" dirty="0"/>
              <a:t>을 이용하여 코드 진행</a:t>
            </a:r>
            <a:r>
              <a:rPr lang="en-US" altLang="ko-KR" sz="1800" b="1" dirty="0"/>
              <a:t>(</a:t>
            </a:r>
            <a:r>
              <a:rPr lang="en" altLang="ko-Kore-KR" sz="1800" b="1" dirty="0"/>
              <a:t>chord progression)</a:t>
            </a:r>
            <a:r>
              <a:rPr lang="ko-KR" altLang="en-US" sz="1800" b="1" dirty="0" err="1"/>
              <a:t>에</a:t>
            </a:r>
            <a:r>
              <a:rPr lang="ko-KR" altLang="en-US" sz="1800" b="1" dirty="0"/>
              <a:t> 어울리는 멜로디를 자동으로 생성하는 에이전트</a:t>
            </a:r>
            <a:r>
              <a:rPr lang="ko-KR" altLang="en-US" sz="1800" dirty="0"/>
              <a:t>를 학습하는 것이다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endParaRPr lang="en-US" altLang="ko-KR" sz="1800" dirty="0"/>
          </a:p>
          <a:p>
            <a:r>
              <a:rPr lang="ko-KR" altLang="en-US" sz="1800" dirty="0"/>
              <a:t>구체적으로는</a:t>
            </a:r>
            <a:r>
              <a:rPr lang="en-US" altLang="ko-KR" sz="1800" dirty="0"/>
              <a:t>,</a:t>
            </a:r>
            <a:r>
              <a:rPr lang="ko-KR" altLang="en-US" sz="1800" dirty="0"/>
              <a:t>주어진 코드 시퀀스를 기반으로 에이전트가 시계열적으로 </a:t>
            </a:r>
            <a:r>
              <a:rPr lang="en" altLang="ko-Kore-KR" sz="1800" dirty="0"/>
              <a:t>pitch</a:t>
            </a:r>
            <a:r>
              <a:rPr lang="ko-KR" altLang="en-US" sz="1800" dirty="0"/>
              <a:t>와 </a:t>
            </a:r>
            <a:r>
              <a:rPr lang="en" altLang="ko-Kore-KR" sz="1800" dirty="0"/>
              <a:t>velocity</a:t>
            </a:r>
            <a:r>
              <a:rPr lang="ko-KR" altLang="en-US" sz="1800" dirty="0" err="1"/>
              <a:t>를</a:t>
            </a:r>
            <a:r>
              <a:rPr lang="ko-KR" altLang="en-US" sz="1800" dirty="0"/>
              <a:t> 선택하도록 하고 음악 이론</a:t>
            </a:r>
            <a:r>
              <a:rPr lang="en-US" altLang="ko-KR" sz="1800" dirty="0"/>
              <a:t>(</a:t>
            </a:r>
            <a:r>
              <a:rPr lang="ko-KR" altLang="en-US" sz="1800" dirty="0"/>
              <a:t>스케일 일치</a:t>
            </a:r>
            <a:r>
              <a:rPr lang="en-US" altLang="ko-KR" sz="1800" dirty="0"/>
              <a:t>, </a:t>
            </a:r>
            <a:r>
              <a:rPr lang="ko-KR" altLang="en-US" sz="1800" dirty="0"/>
              <a:t>과도한 도약 회피 등</a:t>
            </a:r>
            <a:r>
              <a:rPr lang="en-US" altLang="ko-KR" sz="1800" dirty="0"/>
              <a:t>)</a:t>
            </a:r>
            <a:r>
              <a:rPr lang="ko-KR" altLang="en-US" sz="1800" dirty="0"/>
              <a:t>을 반영한 보상 함수를 통해</a:t>
            </a:r>
            <a:br>
              <a:rPr lang="ko-KR" altLang="en-US" sz="1800" dirty="0"/>
            </a:br>
            <a:r>
              <a:rPr lang="ko-KR" altLang="en-US" sz="1800" b="1" dirty="0"/>
              <a:t>자연스럽고 음악적으로 타당한 멜로디를 생성하는 정책을 학습</a:t>
            </a:r>
            <a:r>
              <a:rPr lang="ko-KR" altLang="en-US" sz="1800" dirty="0"/>
              <a:t>하는 것을 목표로 한다</a:t>
            </a:r>
            <a:r>
              <a:rPr lang="en-US" altLang="ko-KR" sz="1800" dirty="0"/>
              <a:t>.</a:t>
            </a:r>
          </a:p>
          <a:p>
            <a:br>
              <a:rPr lang="en-US" altLang="ko-KR" sz="1800" dirty="0"/>
            </a:br>
            <a:r>
              <a:rPr lang="ko-KR" altLang="en-US" sz="1800" dirty="0"/>
              <a:t>이를 통해</a:t>
            </a:r>
            <a:r>
              <a:rPr lang="en-US" altLang="ko-KR" sz="1800" dirty="0"/>
              <a:t>, </a:t>
            </a:r>
            <a:r>
              <a:rPr lang="ko-KR" altLang="en-US" sz="1800" dirty="0"/>
              <a:t>강화학습이 전통적인 게임</a:t>
            </a:r>
            <a:r>
              <a:rPr lang="en-US" altLang="ko-KR" sz="1800" dirty="0"/>
              <a:t>/</a:t>
            </a:r>
            <a:r>
              <a:rPr lang="ko-KR" altLang="en-US" sz="1800" dirty="0"/>
              <a:t>제어 문제가 아닌 </a:t>
            </a:r>
            <a:r>
              <a:rPr lang="ko-KR" altLang="en-US" sz="1800" b="1" dirty="0"/>
              <a:t>창의적 도메인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음악 생성</a:t>
            </a:r>
            <a:r>
              <a:rPr lang="en-US" altLang="ko-KR" sz="1800" b="1" dirty="0"/>
              <a:t>)</a:t>
            </a:r>
            <a:r>
              <a:rPr lang="ko-KR" altLang="en-US" sz="1800" dirty="0"/>
              <a:t> 에도 적용 가능함을 확인하고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r>
              <a:rPr lang="en" altLang="ko-Kore-KR" sz="1800" dirty="0"/>
              <a:t>State–Action–Reward </a:t>
            </a:r>
            <a:r>
              <a:rPr lang="ko-KR" altLang="en-US" sz="1800" dirty="0"/>
              <a:t>설계에 따라 결과가 어떻게 달라지는지를 실험적으로 분석하고자 한다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endParaRPr lang="ko-KR" altLang="en-US" sz="1800"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0E7D8-5FE3-FCFF-2A1B-F042ABDD6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F375FC-2980-4BCA-0F3D-8D496A64A5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ko-KR" altLang="en-US" spc="-25" dirty="0"/>
              <a:t>데이터셋 및 </a:t>
            </a:r>
            <a:r>
              <a:rPr lang="ko-KR" altLang="en-US" spc="-25" dirty="0" err="1"/>
              <a:t>전처리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E6E4B87-A7A6-93B8-6F60-20418841A31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003C758-23B3-ECCE-6137-FB26A9269E6D}"/>
              </a:ext>
            </a:extLst>
          </p:cNvPr>
          <p:cNvSpPr txBox="1">
            <a:spLocks/>
          </p:cNvSpPr>
          <p:nvPr/>
        </p:nvSpPr>
        <p:spPr>
          <a:xfrm>
            <a:off x="729516" y="1495425"/>
            <a:ext cx="9959796" cy="420243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br>
              <a:rPr lang="ko-KR" altLang="en-US" sz="1600" spc="-25" dirty="0"/>
            </a:br>
            <a:r>
              <a:rPr lang="en-US" altLang="ko-KR" sz="1600" b="1" dirty="0"/>
              <a:t>2.1 </a:t>
            </a:r>
            <a:r>
              <a:rPr lang="ko-KR" altLang="en-US" sz="1600" b="1" dirty="0"/>
              <a:t>데이터셋</a:t>
            </a:r>
          </a:p>
          <a:p>
            <a:r>
              <a:rPr lang="ko-KR" altLang="en-US" sz="1600" dirty="0"/>
              <a:t>사용한 데이터는 </a:t>
            </a:r>
            <a:r>
              <a:rPr lang="ko-KR" altLang="en-US" sz="1600" b="1" dirty="0"/>
              <a:t>기존에 녹음되어 있는 </a:t>
            </a:r>
            <a:r>
              <a:rPr lang="en" altLang="ko-Kore-KR" sz="1600" b="1" dirty="0"/>
              <a:t>MIDI </a:t>
            </a:r>
            <a:r>
              <a:rPr lang="ko-KR" altLang="en-US" sz="1600" b="1" dirty="0" err="1"/>
              <a:t>곡들에서</a:t>
            </a:r>
            <a:r>
              <a:rPr lang="ko-KR" altLang="en-US" sz="1600" b="1" dirty="0"/>
              <a:t> 추출한 코드 진행</a:t>
            </a:r>
            <a:r>
              <a:rPr lang="ko-KR" altLang="en-US" sz="1600" dirty="0"/>
              <a:t>으로 구성된다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각 곡에서 일정 길이</a:t>
            </a:r>
            <a:r>
              <a:rPr lang="en-US" altLang="ko-KR" sz="1600" dirty="0"/>
              <a:t>(16</a:t>
            </a:r>
            <a:r>
              <a:rPr lang="ko-KR" altLang="en-US" sz="1600" dirty="0"/>
              <a:t>마디</a:t>
            </a:r>
            <a:r>
              <a:rPr lang="en-US" altLang="ko-KR" sz="1600" dirty="0"/>
              <a:t>, 64 </a:t>
            </a:r>
            <a:r>
              <a:rPr lang="en" altLang="ko-Kore-KR" sz="1600" dirty="0"/>
              <a:t>beat) </a:t>
            </a:r>
            <a:r>
              <a:rPr lang="ko-KR" altLang="en-US" sz="1600" dirty="0"/>
              <a:t>구간을 슬라이딩 윈도우 방식으로 잘라서 </a:t>
            </a:r>
            <a:r>
              <a:rPr lang="en" altLang="ko-Kore-KR" sz="1600" dirty="0"/>
              <a:t>chord window </a:t>
            </a:r>
            <a:r>
              <a:rPr lang="ko-KR" altLang="en-US" sz="1600" dirty="0"/>
              <a:t>들을 생성</a:t>
            </a:r>
            <a:endParaRPr lang="en-US" altLang="ko-KR" sz="1600" dirty="0"/>
          </a:p>
          <a:p>
            <a:r>
              <a:rPr lang="ko-KR" altLang="en-US" sz="1600" dirty="0"/>
              <a:t>각 </a:t>
            </a:r>
            <a:r>
              <a:rPr lang="en" altLang="ko-Kore-KR" sz="1600" dirty="0"/>
              <a:t>chord window </a:t>
            </a:r>
            <a:r>
              <a:rPr lang="ko-KR" altLang="en-US" sz="1600" dirty="0"/>
              <a:t>는 에피소드 하나의 </a:t>
            </a:r>
            <a:r>
              <a:rPr lang="ko-KR" altLang="en-US" sz="1600" b="1" dirty="0"/>
              <a:t>고정된 코드 진행</a:t>
            </a:r>
            <a:r>
              <a:rPr lang="ko-KR" altLang="en-US" sz="1600" dirty="0"/>
              <a:t>으로 사용되며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에피소드 동안 에이전트는 해당 코드 진행에 어울리는 멜로디를 한 스텝씩 생성한다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b="1" dirty="0"/>
              <a:t>2.2 </a:t>
            </a:r>
            <a:r>
              <a:rPr lang="ko-KR" altLang="en-US" sz="1600" b="1" dirty="0"/>
              <a:t>데이터 </a:t>
            </a:r>
            <a:r>
              <a:rPr lang="ko-KR" altLang="en-US" sz="1600" b="1" dirty="0" err="1"/>
              <a:t>전처리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(</a:t>
            </a:r>
            <a:r>
              <a:rPr lang="en" altLang="ko-Kore-KR" sz="1600" b="1" dirty="0"/>
              <a:t>preprocessing)</a:t>
            </a:r>
          </a:p>
          <a:p>
            <a:r>
              <a:rPr lang="en" altLang="ko-Kore-KR" sz="1600" dirty="0"/>
              <a:t>MIDI </a:t>
            </a:r>
            <a:r>
              <a:rPr lang="ko-KR" altLang="en-US" sz="1600" dirty="0"/>
              <a:t>파일은 </a:t>
            </a:r>
            <a:r>
              <a:rPr lang="en" altLang="ko-Kore-KR" sz="1600" dirty="0" err="1"/>
              <a:t>pretty_midi</a:t>
            </a:r>
            <a:r>
              <a:rPr lang="ko-KR" altLang="en-US" sz="1600" dirty="0"/>
              <a:t>와 직접 구현한 </a:t>
            </a:r>
            <a:r>
              <a:rPr lang="ko-KR" altLang="en-US" sz="1600" dirty="0" err="1"/>
              <a:t>전처리</a:t>
            </a:r>
            <a:r>
              <a:rPr lang="ko-KR" altLang="en-US" sz="1600" dirty="0"/>
              <a:t> 함수들을 통해 </a:t>
            </a:r>
            <a:r>
              <a:rPr lang="en" altLang="ko-Kore-KR" sz="1600" dirty="0"/>
              <a:t>beat </a:t>
            </a:r>
            <a:r>
              <a:rPr lang="ko-KR" altLang="en-US" sz="1600" dirty="0"/>
              <a:t>단위의 </a:t>
            </a:r>
            <a:r>
              <a:rPr lang="en-US" altLang="ko-KR" sz="1600" dirty="0"/>
              <a:t>pitch</a:t>
            </a:r>
            <a:r>
              <a:rPr lang="ko-KR" altLang="en-US" sz="1600" dirty="0"/>
              <a:t>와 </a:t>
            </a:r>
            <a:r>
              <a:rPr lang="en" altLang="ko-Kore-KR" sz="1600" dirty="0"/>
              <a:t>velocity </a:t>
            </a:r>
            <a:r>
              <a:rPr lang="ko-KR" altLang="en-US" sz="1600" dirty="0"/>
              <a:t>시퀀스로 변환하였다</a:t>
            </a:r>
            <a:r>
              <a:rPr lang="en-US" altLang="ko-KR" sz="1600" dirty="0"/>
              <a:t>. </a:t>
            </a:r>
          </a:p>
          <a:p>
            <a:r>
              <a:rPr lang="ko-KR" altLang="en-US" sz="1600" dirty="0"/>
              <a:t>이후 이 시퀀스를 길이 </a:t>
            </a:r>
            <a:r>
              <a:rPr lang="en-US" altLang="ko-KR" sz="1600" dirty="0"/>
              <a:t>64 </a:t>
            </a:r>
            <a:r>
              <a:rPr lang="en" altLang="ko-Kore-KR" sz="1600" dirty="0"/>
              <a:t>beat</a:t>
            </a:r>
            <a:r>
              <a:rPr lang="ko-KR" altLang="en-US" sz="1600" dirty="0" err="1"/>
              <a:t>짜리</a:t>
            </a:r>
            <a:r>
              <a:rPr lang="ko-KR" altLang="en-US" sz="1600" dirty="0"/>
              <a:t> 윈도우로 잘라 하나의 코드 진행</a:t>
            </a:r>
            <a:r>
              <a:rPr lang="en-US" altLang="ko-KR" sz="1600" dirty="0"/>
              <a:t>(</a:t>
            </a:r>
            <a:r>
              <a:rPr lang="ko-KR" altLang="en-US" sz="1600" dirty="0"/>
              <a:t>에피소드</a:t>
            </a:r>
            <a:r>
              <a:rPr lang="en-US" altLang="ko-KR" sz="1600" dirty="0"/>
              <a:t>)</a:t>
            </a:r>
            <a:r>
              <a:rPr lang="ko-KR" altLang="en-US" sz="1600" dirty="0" err="1"/>
              <a:t>으로</a:t>
            </a:r>
            <a:r>
              <a:rPr lang="ko-KR" altLang="en-US" sz="1600" dirty="0"/>
              <a:t> 사용하고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전체에서 등장하는 음들로 </a:t>
            </a:r>
            <a:r>
              <a:rPr lang="en" altLang="ko-Kore-KR" sz="1600" dirty="0"/>
              <a:t>pitch vocabulary </a:t>
            </a:r>
            <a:r>
              <a:rPr lang="ko-KR" altLang="en-US" sz="1600" dirty="0" err="1"/>
              <a:t>를</a:t>
            </a:r>
            <a:r>
              <a:rPr lang="ko-KR" altLang="en-US" sz="1600" dirty="0"/>
              <a:t> 구성하였다</a:t>
            </a:r>
            <a:r>
              <a:rPr lang="en-US" altLang="ko-KR" sz="1600" dirty="0"/>
              <a:t>. </a:t>
            </a:r>
          </a:p>
          <a:p>
            <a:r>
              <a:rPr lang="en" altLang="ko-Kore-KR" sz="1600" dirty="0"/>
              <a:t>velocity</a:t>
            </a:r>
            <a:r>
              <a:rPr lang="ko-KR" altLang="en-US" sz="1600" dirty="0"/>
              <a:t>는 </a:t>
            </a:r>
            <a:r>
              <a:rPr lang="ko-KR" altLang="en-US" sz="1600" dirty="0" err="1"/>
              <a:t>연속값</a:t>
            </a:r>
            <a:r>
              <a:rPr lang="ko-KR" altLang="en-US" sz="1600" dirty="0"/>
              <a:t> 대신 </a:t>
            </a:r>
            <a:r>
              <a:rPr lang="en" altLang="ko-Kore-KR" sz="1600" dirty="0" err="1"/>
              <a:t>vel_bins</a:t>
            </a:r>
            <a:r>
              <a:rPr lang="en" altLang="ko-Kore-KR" sz="1600" dirty="0"/>
              <a:t> = [20, 35, 50, 65, 80, 95, 110, 125]</a:t>
            </a:r>
            <a:r>
              <a:rPr lang="ko-KR" altLang="en-US" sz="1600" dirty="0"/>
              <a:t>와 같이 몇 개의 조합을 행동으로 선택하도록 설계하였다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br>
              <a:rPr lang="en-US" altLang="ko-KR" sz="1600" dirty="0"/>
            </a:br>
            <a:endParaRPr lang="ko-KR" altLang="en-US" sz="1600" spc="-25" dirty="0"/>
          </a:p>
        </p:txBody>
      </p:sp>
    </p:spTree>
    <p:extLst>
      <p:ext uri="{BB962C8B-B14F-4D97-AF65-F5344CB8AC3E}">
        <p14:creationId xmlns:p14="http://schemas.microsoft.com/office/powerpoint/2010/main" val="1157405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D880-2D41-D985-E7A5-AE612BFDD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DB3AEF-65A2-3362-D947-3FF6225582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ko-KR" altLang="en-US" sz="3200" b="1" dirty="0"/>
              <a:t>강화학습 환경 개요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D3D056E-6A2B-EC13-4AB3-350C97EA520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1924ED5-91BE-CB6D-9DB5-22C067ADC55D}"/>
              </a:ext>
            </a:extLst>
          </p:cNvPr>
          <p:cNvSpPr txBox="1">
            <a:spLocks/>
          </p:cNvSpPr>
          <p:nvPr/>
        </p:nvSpPr>
        <p:spPr>
          <a:xfrm>
            <a:off x="729516" y="1495425"/>
            <a:ext cx="9722584" cy="24788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lvl="1"/>
            <a:r>
              <a:rPr lang="ko-KR" altLang="en-US" sz="1600" dirty="0"/>
              <a:t>이 환경은 </a:t>
            </a:r>
            <a:r>
              <a:rPr lang="en" altLang="ko-Kore-KR" sz="1600" dirty="0"/>
              <a:t>RL </a:t>
            </a:r>
            <a:r>
              <a:rPr lang="ko-KR" altLang="en-US" sz="1600" dirty="0"/>
              <a:t>에이전트가 주어지는 </a:t>
            </a:r>
            <a:r>
              <a:rPr lang="ko-KR" altLang="en-US" sz="1600" b="1" dirty="0"/>
              <a:t>화성 진행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코드 시퀀스</a:t>
            </a:r>
            <a:r>
              <a:rPr lang="en-US" altLang="ko-KR" sz="1600" b="1" dirty="0"/>
              <a:t>)</a:t>
            </a:r>
            <a:r>
              <a:rPr lang="ko-KR" altLang="en-US" sz="1600" dirty="0"/>
              <a:t> 위에서 멜로디를 한 단계</a:t>
            </a:r>
            <a:r>
              <a:rPr lang="en-US" altLang="ko-KR" sz="1600" dirty="0"/>
              <a:t>(</a:t>
            </a:r>
            <a:r>
              <a:rPr lang="en" altLang="ko-Kore-KR" sz="1600" dirty="0"/>
              <a:t>step)</a:t>
            </a:r>
            <a:r>
              <a:rPr lang="ko-KR" altLang="en-US" sz="1600" dirty="0"/>
              <a:t>씩 생성하도록 설계되었습니다</a:t>
            </a:r>
            <a:r>
              <a:rPr lang="en-US" altLang="ko-KR" sz="1600" dirty="0"/>
              <a:t>. </a:t>
            </a:r>
          </a:p>
          <a:p>
            <a:pPr lvl="1"/>
            <a:endParaRPr lang="en-US" altLang="ko-KR" sz="1600" dirty="0"/>
          </a:p>
          <a:p>
            <a:pPr lvl="1"/>
            <a:r>
              <a:rPr lang="ko-KR" altLang="en-US" sz="1600" dirty="0"/>
              <a:t>에이전트의 목표는 에피소드가 끝날 때까지 누적된 **보상</a:t>
            </a:r>
            <a:r>
              <a:rPr lang="en-US" altLang="ko-KR" sz="1600" dirty="0"/>
              <a:t>(</a:t>
            </a:r>
            <a:r>
              <a:rPr lang="en" altLang="ko-Kore-KR" sz="1600" dirty="0"/>
              <a:t>Reward)**</a:t>
            </a:r>
            <a:r>
              <a:rPr lang="ko-KR" altLang="en-US" sz="1600" dirty="0"/>
              <a:t>을 최대화하는 </a:t>
            </a:r>
            <a:r>
              <a:rPr lang="ko-KR" altLang="en-US" sz="1600" b="1" dirty="0"/>
              <a:t>음악적으로 일관되고 자연스러운 멜로디</a:t>
            </a:r>
            <a:r>
              <a:rPr lang="ko-KR" altLang="en-US" sz="1600" dirty="0"/>
              <a:t>를 생성하는 것입니다</a:t>
            </a:r>
            <a:r>
              <a:rPr lang="en-US" altLang="ko-KR" sz="1600" dirty="0"/>
              <a:t>. </a:t>
            </a:r>
          </a:p>
          <a:p>
            <a:pPr lvl="1"/>
            <a:endParaRPr lang="en-US" altLang="ko-KR" sz="1600" dirty="0"/>
          </a:p>
          <a:p>
            <a:pPr lvl="1"/>
            <a:r>
              <a:rPr lang="ko-KR" altLang="en-US" sz="1600" dirty="0"/>
              <a:t>전체 에피소드의 길이는 </a:t>
            </a:r>
            <a:r>
              <a:rPr lang="en-US" altLang="ko-KR" sz="1600" dirty="0"/>
              <a:t>64</a:t>
            </a:r>
            <a:r>
              <a:rPr lang="ko-KR" altLang="en-US" sz="1600" dirty="0"/>
              <a:t>단계</a:t>
            </a:r>
            <a:r>
              <a:rPr lang="en-US" altLang="ko-KR" sz="1600" dirty="0"/>
              <a:t>(</a:t>
            </a:r>
            <a:r>
              <a:rPr lang="en" altLang="ko-Kore-KR" sz="1600" dirty="0"/>
              <a:t>beats)</a:t>
            </a:r>
            <a:r>
              <a:rPr lang="ko-KR" altLang="en-US" sz="1600" dirty="0"/>
              <a:t>로 설정되어 있습니다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br>
              <a:rPr lang="en-US" altLang="ko-KR" sz="1600" dirty="0"/>
            </a:br>
            <a:endParaRPr lang="ko-KR" altLang="en-US" sz="1600" spc="-25" dirty="0"/>
          </a:p>
        </p:txBody>
      </p:sp>
    </p:spTree>
    <p:extLst>
      <p:ext uri="{BB962C8B-B14F-4D97-AF65-F5344CB8AC3E}">
        <p14:creationId xmlns:p14="http://schemas.microsoft.com/office/powerpoint/2010/main" val="225198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E8D46-0081-EB94-4AC0-8C20F846E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23637D0-ECE4-114D-8735-A3F4E20B16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" altLang="ko-Kore-KR" sz="3200" b="1" dirty="0"/>
              <a:t>State </a:t>
            </a:r>
            <a:r>
              <a:rPr lang="ko-KR" altLang="en-US" sz="3200" b="1" dirty="0"/>
              <a:t>설계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54380E1-AA7C-8D2D-BD66-029F94DF4AE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41C6B7-3832-9389-6D31-ABF6DDFC03AA}"/>
              </a:ext>
            </a:extLst>
          </p:cNvPr>
          <p:cNvSpPr txBox="1">
            <a:spLocks/>
          </p:cNvSpPr>
          <p:nvPr/>
        </p:nvSpPr>
        <p:spPr>
          <a:xfrm>
            <a:off x="671017" y="962025"/>
            <a:ext cx="9959796" cy="66646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sz="1800" dirty="0"/>
              <a:t>에이전트의 상태</a:t>
            </a:r>
            <a:r>
              <a:rPr lang="en-US" altLang="ko-KR" sz="1800" dirty="0"/>
              <a:t>(</a:t>
            </a:r>
            <a:r>
              <a:rPr lang="en" altLang="ko-Kore-KR" sz="1800" dirty="0"/>
              <a:t>state)</a:t>
            </a:r>
            <a:r>
              <a:rPr lang="ko-KR" altLang="en-US" sz="1800" dirty="0"/>
              <a:t>는 다음 두 정보를 합쳐서 만든 하나의 실수 벡터이다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[</a:t>
            </a:r>
            <a:r>
              <a:rPr lang="ko-KR" altLang="en-US" sz="1800" dirty="0"/>
              <a:t>최근 멜로디 히스토리</a:t>
            </a:r>
            <a:r>
              <a:rPr lang="en-US" altLang="ko-KR" sz="1800" dirty="0"/>
              <a:t>,</a:t>
            </a:r>
            <a:r>
              <a:rPr lang="ko-KR" altLang="en-US" sz="1800" dirty="0"/>
              <a:t>현재 시점의 코드 정보</a:t>
            </a:r>
            <a:r>
              <a:rPr lang="en-US" altLang="ko-KR" sz="1800" dirty="0"/>
              <a:t>]</a:t>
            </a:r>
          </a:p>
          <a:p>
            <a:endParaRPr lang="ko-KR" altLang="en-US" sz="1800" dirty="0"/>
          </a:p>
          <a:p>
            <a:r>
              <a:rPr lang="en-US" altLang="ko-KR" sz="1800" b="1" dirty="0"/>
              <a:t>1) </a:t>
            </a:r>
            <a:r>
              <a:rPr lang="ko-KR" altLang="en-US" sz="1800" b="1" dirty="0"/>
              <a:t>최근 멜로디 히스토리</a:t>
            </a:r>
          </a:p>
          <a:p>
            <a:r>
              <a:rPr lang="ko-KR" altLang="en-US" sz="1800" dirty="0"/>
              <a:t>환경은 최근 </a:t>
            </a:r>
            <a:r>
              <a:rPr lang="en" altLang="ko-Kore-KR" sz="1800" dirty="0"/>
              <a:t>H</a:t>
            </a:r>
            <a:r>
              <a:rPr lang="ko-KR" altLang="en-US" sz="1800" dirty="0"/>
              <a:t>개 </a:t>
            </a:r>
            <a:r>
              <a:rPr lang="en" altLang="ko-Kore-KR" sz="1800" dirty="0"/>
              <a:t>step </a:t>
            </a:r>
            <a:r>
              <a:rPr lang="ko-KR" altLang="en-US" sz="1800" dirty="0"/>
              <a:t>동안의 멜로디</a:t>
            </a:r>
            <a:r>
              <a:rPr lang="en-US" altLang="ko-KR" sz="1800" dirty="0"/>
              <a:t> (</a:t>
            </a:r>
            <a:r>
              <a:rPr lang="en" altLang="ko-Kore-KR" sz="1800" dirty="0"/>
              <a:t>pitch, velocity)</a:t>
            </a:r>
            <a:r>
              <a:rPr lang="ko-KR" altLang="en-US" sz="1800" dirty="0" err="1"/>
              <a:t>를</a:t>
            </a:r>
            <a:r>
              <a:rPr lang="ko-KR" altLang="en-US" sz="1800" dirty="0"/>
              <a:t> 상태에 포함한다</a:t>
            </a:r>
            <a:r>
              <a:rPr lang="en-US" altLang="ko-KR" sz="1800" dirty="0"/>
              <a:t>.</a:t>
            </a:r>
          </a:p>
          <a:p>
            <a:r>
              <a:rPr lang="en" altLang="ko-Kore-KR" sz="1800" dirty="0"/>
              <a:t>Pitch</a:t>
            </a:r>
            <a:r>
              <a:rPr lang="en-US" altLang="ko-KR" sz="1800" dirty="0"/>
              <a:t>,velocity</a:t>
            </a:r>
            <a:r>
              <a:rPr lang="ko-KR" altLang="en-US" sz="1800" dirty="0"/>
              <a:t>는</a:t>
            </a:r>
            <a:r>
              <a:rPr lang="en" altLang="ko-Kore-KR" sz="1800" dirty="0"/>
              <a:t>MIDI </a:t>
            </a:r>
            <a:r>
              <a:rPr lang="ko-KR" altLang="en-US" sz="1800" dirty="0"/>
              <a:t>값 범위</a:t>
            </a:r>
            <a:r>
              <a:rPr lang="en-US" altLang="ko-KR" sz="1800" dirty="0"/>
              <a:t>(0~127)</a:t>
            </a:r>
            <a:r>
              <a:rPr lang="ko-KR" altLang="en-US" sz="1800" dirty="0" err="1"/>
              <a:t>를</a:t>
            </a:r>
            <a:r>
              <a:rPr lang="ko-KR" altLang="en-US" sz="1800" dirty="0"/>
              <a:t> 사용</a:t>
            </a:r>
            <a:r>
              <a:rPr lang="en-US" altLang="ko-KR" sz="1800" dirty="0"/>
              <a:t>,</a:t>
            </a:r>
            <a:r>
              <a:rPr lang="ko-KR" altLang="en-US" sz="1800" dirty="0"/>
              <a:t> 에피소드 초반처럼 과거 </a:t>
            </a:r>
            <a:r>
              <a:rPr lang="en" altLang="ko-Kore-KR" sz="1800" dirty="0"/>
              <a:t>step</a:t>
            </a:r>
            <a:r>
              <a:rPr lang="ko-KR" altLang="en-US" sz="1800" dirty="0"/>
              <a:t>이 </a:t>
            </a:r>
            <a:r>
              <a:rPr lang="en" altLang="ko-Kore-KR" sz="1800" dirty="0"/>
              <a:t>H</a:t>
            </a:r>
            <a:r>
              <a:rPr lang="ko-KR" altLang="en-US" sz="1800" dirty="0"/>
              <a:t>개보다 적을 때는</a:t>
            </a:r>
            <a:r>
              <a:rPr lang="en-US" altLang="ko-KR" sz="1800" dirty="0"/>
              <a:t>, </a:t>
            </a:r>
            <a:r>
              <a:rPr lang="ko-KR" altLang="en-US" sz="1800" dirty="0"/>
              <a:t>앞쪽을 </a:t>
            </a:r>
            <a:r>
              <a:rPr lang="en-US" altLang="ko-KR" sz="1800" dirty="0"/>
              <a:t>0</a:t>
            </a:r>
            <a:r>
              <a:rPr lang="ko-KR" altLang="en-US" sz="1800" dirty="0" err="1"/>
              <a:t>으로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패딩하여</a:t>
            </a:r>
            <a:r>
              <a:rPr lang="ko-KR" altLang="en-US" sz="1800" dirty="0"/>
              <a:t> 항상 동일한 길이의 벡터가 되도록 맞춘다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이 히스토리 부분은 “이전에 어떤 음을 어느 세기로 연주해 </a:t>
            </a:r>
            <a:r>
              <a:rPr lang="ko-KR" altLang="en-US" sz="1800" dirty="0" err="1"/>
              <a:t>왔는지”에</a:t>
            </a:r>
            <a:r>
              <a:rPr lang="ko-KR" altLang="en-US" sz="1800" dirty="0"/>
              <a:t> 대한 정보를 제공하여</a:t>
            </a:r>
            <a:r>
              <a:rPr lang="en-US" altLang="ko-KR" sz="1800" dirty="0"/>
              <a:t>,</a:t>
            </a:r>
            <a:br>
              <a:rPr lang="en-US" altLang="ko-KR" sz="1800" dirty="0"/>
            </a:br>
            <a:r>
              <a:rPr lang="ko-KR" altLang="en-US" sz="1800" dirty="0"/>
              <a:t>에이전트가 반복</a:t>
            </a:r>
            <a:r>
              <a:rPr lang="en-US" altLang="ko-KR" sz="1800" dirty="0"/>
              <a:t>, </a:t>
            </a:r>
            <a:r>
              <a:rPr lang="ko-KR" altLang="en-US" sz="1800" dirty="0"/>
              <a:t>음정 진행</a:t>
            </a:r>
            <a:r>
              <a:rPr lang="en-US" altLang="ko-KR" sz="1800" dirty="0"/>
              <a:t>, </a:t>
            </a:r>
            <a:r>
              <a:rPr lang="ko-KR" altLang="en-US" sz="1800" dirty="0"/>
              <a:t>다이내믹 흐름 등을 고려해서 다음 행동을 선택할 수 있게 해 준다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en-US" altLang="ko-KR" sz="1800" b="1" dirty="0"/>
              <a:t>2) </a:t>
            </a:r>
            <a:r>
              <a:rPr lang="ko-KR" altLang="en-US" sz="1800" b="1" dirty="0"/>
              <a:t>현재 코드 정보</a:t>
            </a:r>
          </a:p>
          <a:p>
            <a:r>
              <a:rPr lang="ko-KR" altLang="en-US" sz="1800" dirty="0"/>
              <a:t>환경은 </a:t>
            </a:r>
            <a:r>
              <a:rPr lang="en" altLang="ko-Kore-KR" sz="1800" dirty="0"/>
              <a:t>MIDI </a:t>
            </a:r>
            <a:r>
              <a:rPr lang="ko-KR" altLang="en-US" sz="1800" dirty="0"/>
              <a:t>코드 진행으로부터 각 </a:t>
            </a:r>
            <a:r>
              <a:rPr lang="en" altLang="ko-Kore-KR" sz="1800" dirty="0"/>
              <a:t>step</a:t>
            </a:r>
            <a:r>
              <a:rPr lang="ko-KR" altLang="en-US" sz="1800" dirty="0"/>
              <a:t>별 코드 구성 음을 미리 추출해 둔다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현재 시점의 코드는 해당 </a:t>
            </a:r>
            <a:r>
              <a:rPr lang="en" altLang="ko-Kore-KR" sz="1800" dirty="0"/>
              <a:t>step</a:t>
            </a:r>
            <a:r>
              <a:rPr lang="ko-KR" altLang="en-US" sz="1800" dirty="0"/>
              <a:t>에서 울리고 있는 코드의 구성 음 리스트로 표현된다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코드 정보 역시 </a:t>
            </a:r>
            <a:r>
              <a:rPr lang="en" altLang="ko-Kore-KR" sz="1800" dirty="0"/>
              <a:t>pitch</a:t>
            </a:r>
            <a:r>
              <a:rPr lang="ko-KR" altLang="en-US" sz="1800" dirty="0" err="1"/>
              <a:t>를</a:t>
            </a:r>
            <a:r>
              <a:rPr lang="ko-KR" altLang="en-US" sz="1800" dirty="0"/>
              <a:t> </a:t>
            </a:r>
            <a:r>
              <a:rPr lang="en-US" altLang="ko-KR" sz="1800" dirty="0"/>
              <a:t>0~127 </a:t>
            </a:r>
            <a:r>
              <a:rPr lang="ko-KR" altLang="en-US" sz="1800" dirty="0"/>
              <a:t>범위의 </a:t>
            </a:r>
            <a:r>
              <a:rPr lang="en" altLang="ko-Kore-KR" sz="1800" dirty="0"/>
              <a:t>MIDI </a:t>
            </a:r>
            <a:r>
              <a:rPr lang="ko-KR" altLang="en-US" sz="1800" dirty="0"/>
              <a:t>값으로 직접 사용</a:t>
            </a:r>
            <a:r>
              <a:rPr lang="en-US" altLang="ko-KR" sz="1800" dirty="0"/>
              <a:t>,</a:t>
            </a:r>
            <a:r>
              <a:rPr lang="ko-KR" altLang="en-US" sz="1800" dirty="0"/>
              <a:t> 코드에 포함된 음 개수는 </a:t>
            </a:r>
            <a:r>
              <a:rPr lang="en" altLang="ko-Kore-KR" sz="1800" dirty="0"/>
              <a:t>step</a:t>
            </a:r>
            <a:r>
              <a:rPr lang="ko-KR" altLang="en-US" sz="1800" dirty="0"/>
              <a:t>마다 달라질 수 있으므로</a:t>
            </a:r>
            <a:r>
              <a:rPr lang="en-US" altLang="ko-KR" sz="1800" dirty="0"/>
              <a:t>, </a:t>
            </a:r>
            <a:r>
              <a:rPr lang="ko-KR" altLang="en-US" sz="1800" dirty="0"/>
              <a:t>미리 정한 최대 길이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8</a:t>
            </a:r>
            <a:r>
              <a:rPr lang="ko-KR" altLang="en-US" sz="1800" dirty="0"/>
              <a:t>개</a:t>
            </a:r>
            <a:r>
              <a:rPr lang="en-US" altLang="ko-KR" sz="1800" dirty="0"/>
              <a:t>)</a:t>
            </a:r>
            <a:r>
              <a:rPr lang="ko-KR" altLang="en-US" sz="1800" dirty="0"/>
              <a:t>까지만 앞에서부터 채우고</a:t>
            </a:r>
            <a:r>
              <a:rPr lang="en-US" altLang="ko-KR" sz="1800" dirty="0"/>
              <a:t>, </a:t>
            </a:r>
            <a:r>
              <a:rPr lang="ko-KR" altLang="en-US" sz="1800" dirty="0"/>
              <a:t>부족한 부분은 </a:t>
            </a:r>
            <a:r>
              <a:rPr lang="en-US" altLang="ko-KR" sz="1800" dirty="0"/>
              <a:t>0</a:t>
            </a:r>
            <a:r>
              <a:rPr lang="ko-KR" altLang="en-US" sz="1800" dirty="0" err="1"/>
              <a:t>으로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패딩해</a:t>
            </a:r>
            <a:r>
              <a:rPr lang="ko-KR" altLang="en-US" sz="1800" dirty="0"/>
              <a:t> 고정 길이 벡터로 만든다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en-US" altLang="ko-KR" sz="1800" b="1" dirty="0"/>
              <a:t>3) </a:t>
            </a:r>
            <a:r>
              <a:rPr lang="ko-KR" altLang="en-US" sz="1800" b="1" dirty="0"/>
              <a:t>최종 </a:t>
            </a:r>
            <a:r>
              <a:rPr lang="en" altLang="ko-Kore-KR" sz="1800" b="1" dirty="0"/>
              <a:t>state </a:t>
            </a:r>
            <a:r>
              <a:rPr lang="ko-KR" altLang="en-US" sz="1800" b="1" dirty="0"/>
              <a:t>벡터</a:t>
            </a:r>
          </a:p>
          <a:p>
            <a:r>
              <a:rPr lang="ko-KR" altLang="en-US" sz="1800" dirty="0"/>
              <a:t>최종 </a:t>
            </a:r>
            <a:r>
              <a:rPr lang="en" altLang="ko-Kore-KR" sz="1800" dirty="0"/>
              <a:t>state </a:t>
            </a:r>
            <a:r>
              <a:rPr lang="ko-KR" altLang="en-US" sz="1800" dirty="0"/>
              <a:t>벡터는 “최근 </a:t>
            </a:r>
            <a:r>
              <a:rPr lang="en" altLang="ko-Kore-KR" sz="1800" dirty="0"/>
              <a:t>H</a:t>
            </a:r>
            <a:r>
              <a:rPr lang="ko-KR" altLang="en-US" sz="1800" dirty="0"/>
              <a:t>개 </a:t>
            </a:r>
            <a:r>
              <a:rPr lang="en" altLang="ko-Kore-KR" sz="1800" dirty="0"/>
              <a:t>step</a:t>
            </a:r>
            <a:r>
              <a:rPr lang="ko-KR" altLang="en-US" sz="1800" dirty="0"/>
              <a:t>의 </a:t>
            </a:r>
            <a:r>
              <a:rPr lang="en-US" altLang="ko-KR" sz="1800" dirty="0"/>
              <a:t>(</a:t>
            </a:r>
            <a:r>
              <a:rPr lang="en" altLang="ko-Kore-KR" sz="1800" dirty="0"/>
              <a:t>pitch, velocity) </a:t>
            </a:r>
            <a:r>
              <a:rPr lang="ko-KR" altLang="en-US" sz="1800" dirty="0"/>
              <a:t>쌍을 일렬로 펼친 </a:t>
            </a:r>
            <a:r>
              <a:rPr lang="ko-KR" altLang="en-US" sz="1800" dirty="0" err="1"/>
              <a:t>벡터”와</a:t>
            </a:r>
            <a:r>
              <a:rPr lang="ko-KR" altLang="en-US" sz="1800" dirty="0"/>
              <a:t> “현재 코드 구성 음을 담은 </a:t>
            </a:r>
            <a:r>
              <a:rPr lang="ko-KR" altLang="en-US" sz="1800" dirty="0" err="1"/>
              <a:t>벡터”를</a:t>
            </a:r>
            <a:r>
              <a:rPr lang="ko-KR" altLang="en-US" sz="1800" dirty="0"/>
              <a:t> 순서대로 이어 붙여 만든다</a:t>
            </a:r>
            <a:r>
              <a:rPr lang="en-US" altLang="ko-KR" sz="1800" dirty="0"/>
              <a:t>.</a:t>
            </a:r>
            <a:r>
              <a:rPr lang="ko-KR" altLang="en-US" sz="1800" dirty="0"/>
              <a:t> 이로써 하나의 </a:t>
            </a:r>
            <a:r>
              <a:rPr lang="en" altLang="ko-Kore-KR" sz="1800" dirty="0"/>
              <a:t>state </a:t>
            </a:r>
            <a:r>
              <a:rPr lang="ko-KR" altLang="en-US" sz="1800" dirty="0"/>
              <a:t>안에 </a:t>
            </a:r>
            <a:r>
              <a:rPr lang="ko-KR" altLang="en-US" sz="1800" dirty="0" err="1"/>
              <a:t>시간축을</a:t>
            </a:r>
            <a:r>
              <a:rPr lang="ko-KR" altLang="en-US" sz="1800" dirty="0"/>
              <a:t> 따라 이어지는 멜로디의 흐름과 현재 화성</a:t>
            </a:r>
            <a:r>
              <a:rPr lang="en-US" altLang="ko-KR" sz="1800" dirty="0"/>
              <a:t>(</a:t>
            </a:r>
            <a:r>
              <a:rPr lang="ko-KR" altLang="en-US" sz="1800" dirty="0"/>
              <a:t>코드</a:t>
            </a:r>
            <a:r>
              <a:rPr lang="en-US" altLang="ko-KR" sz="1800" dirty="0"/>
              <a:t>)</a:t>
            </a:r>
            <a:r>
              <a:rPr lang="ko-KR" altLang="en-US" sz="1800" dirty="0"/>
              <a:t>의 정보를 동시에 포함하게 되며</a:t>
            </a:r>
            <a:r>
              <a:rPr lang="en-US" altLang="ko-KR" sz="1800" dirty="0"/>
              <a:t>,</a:t>
            </a:r>
            <a:r>
              <a:rPr lang="ko-KR" altLang="en-US" sz="1800" dirty="0"/>
              <a:t> 에이전트는 둘을 함께 참조하여 다음 음을 결정할 수 있다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92082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8EA9F-E009-555F-C661-63B2D9460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61013C-2E8B-0A7B-B5D3-F476CCB47A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" altLang="ko-Kore-KR" sz="3200" b="1" dirty="0"/>
              <a:t>Action </a:t>
            </a:r>
            <a:r>
              <a:rPr lang="ko-KR" altLang="en-US" sz="3200" b="1" dirty="0"/>
              <a:t>설계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02AD5C8-A0C2-4B6E-3401-61155FD90E1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DAF745B-026D-8B15-16F9-CB5DD00F4A5E}"/>
              </a:ext>
            </a:extLst>
          </p:cNvPr>
          <p:cNvSpPr txBox="1">
            <a:spLocks/>
          </p:cNvSpPr>
          <p:nvPr/>
        </p:nvSpPr>
        <p:spPr>
          <a:xfrm>
            <a:off x="710132" y="1280099"/>
            <a:ext cx="9959796" cy="50026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sz="1800" dirty="0"/>
              <a:t>행동</a:t>
            </a:r>
            <a:r>
              <a:rPr lang="en-US" altLang="ko-KR" sz="1800" dirty="0"/>
              <a:t>(</a:t>
            </a:r>
            <a:r>
              <a:rPr lang="en" altLang="ko-Kore-KR" sz="1800" dirty="0"/>
              <a:t>action)</a:t>
            </a:r>
            <a:r>
              <a:rPr lang="ko-KR" altLang="en-US" sz="1800" dirty="0"/>
              <a:t>은 “이번 </a:t>
            </a:r>
            <a:r>
              <a:rPr lang="en" altLang="ko-Kore-KR" sz="1800" dirty="0"/>
              <a:t>step</a:t>
            </a:r>
            <a:r>
              <a:rPr lang="ko-KR" altLang="en-US" sz="1800" dirty="0"/>
              <a:t>에서 어떤 </a:t>
            </a:r>
            <a:r>
              <a:rPr lang="en" altLang="ko-Kore-KR" sz="1800" dirty="0"/>
              <a:t>pitch</a:t>
            </a:r>
            <a:r>
              <a:rPr lang="ko-KR" altLang="en-US" sz="1800" dirty="0"/>
              <a:t>와 </a:t>
            </a:r>
            <a:r>
              <a:rPr lang="en" altLang="ko-Kore-KR" sz="1800" dirty="0"/>
              <a:t>velocity</a:t>
            </a:r>
            <a:r>
              <a:rPr lang="ko-KR" altLang="en-US" sz="1800" dirty="0"/>
              <a:t>로 멜로디를 연주할 </a:t>
            </a:r>
            <a:r>
              <a:rPr lang="ko-KR" altLang="en-US" sz="1800" dirty="0" err="1"/>
              <a:t>것인지”를</a:t>
            </a:r>
            <a:r>
              <a:rPr lang="ko-KR" altLang="en-US" sz="1800" dirty="0"/>
              <a:t> 나타낸다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ko-KR" altLang="en-US" sz="1800" dirty="0"/>
              <a:t>먼저</a:t>
            </a:r>
            <a:r>
              <a:rPr lang="en-US" altLang="ko-KR" sz="1800" dirty="0"/>
              <a:t>, </a:t>
            </a:r>
            <a:r>
              <a:rPr lang="ko-KR" altLang="en-US" sz="1800" dirty="0"/>
              <a:t>사용할 수 있는 </a:t>
            </a:r>
            <a:r>
              <a:rPr lang="en" altLang="ko-Kore-KR" sz="1800" dirty="0"/>
              <a:t>pitch </a:t>
            </a:r>
            <a:r>
              <a:rPr lang="ko-KR" altLang="en-US" sz="1800" dirty="0"/>
              <a:t>집합을 미리 정한다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ko-KR" altLang="en-US" sz="1800" dirty="0"/>
              <a:t>예를 들어 특정 음역 또는 스케일에 해당하는 </a:t>
            </a:r>
            <a:r>
              <a:rPr lang="en" altLang="ko-Kore-KR" sz="1800" dirty="0"/>
              <a:t>MIDI pitch </a:t>
            </a:r>
            <a:r>
              <a:rPr lang="ko-KR" altLang="en-US" sz="1800" dirty="0"/>
              <a:t>값들을 모아 </a:t>
            </a:r>
            <a:r>
              <a:rPr lang="en" altLang="ko-Kore-KR" sz="1800" dirty="0" err="1"/>
              <a:t>pitch_vocab</a:t>
            </a:r>
            <a:r>
              <a:rPr lang="ko-KR" altLang="en-US" sz="1800" dirty="0" err="1"/>
              <a:t>으로</a:t>
            </a:r>
            <a:r>
              <a:rPr lang="ko-KR" altLang="en-US" sz="1800" dirty="0"/>
              <a:t> 만든다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마찬가지로 </a:t>
            </a:r>
            <a:r>
              <a:rPr lang="en" altLang="ko-Kore-KR" sz="1800" dirty="0"/>
              <a:t>velocity</a:t>
            </a:r>
            <a:r>
              <a:rPr lang="ko-KR" altLang="en-US" sz="1800" dirty="0"/>
              <a:t>도 여러 구간을 나누어 </a:t>
            </a:r>
            <a:r>
              <a:rPr lang="ko-KR" altLang="en-US" sz="1800" dirty="0" err="1"/>
              <a:t>대표값들을</a:t>
            </a:r>
            <a:r>
              <a:rPr lang="ko-KR" altLang="en-US" sz="1800" dirty="0"/>
              <a:t> </a:t>
            </a:r>
            <a:r>
              <a:rPr lang="en" altLang="ko-Kore-KR" sz="1800" dirty="0" err="1"/>
              <a:t>vel_bins</a:t>
            </a:r>
            <a:r>
              <a:rPr lang="ko-KR" altLang="en-US" sz="1800" dirty="0"/>
              <a:t>로 정의한다</a:t>
            </a:r>
            <a:r>
              <a:rPr lang="en-US" altLang="ko-KR" sz="1800" dirty="0"/>
              <a:t>. </a:t>
            </a:r>
            <a:r>
              <a:rPr lang="ko-KR" altLang="en-US" sz="1800" dirty="0"/>
              <a:t>예를 들어 </a:t>
            </a:r>
            <a:r>
              <a:rPr lang="en-US" altLang="ko-KR" sz="1800" dirty="0"/>
              <a:t>[20, 35, 50, 65, 80, 95, 110, 125]</a:t>
            </a:r>
            <a:r>
              <a:rPr lang="ko-KR" altLang="en-US" sz="1800" dirty="0" err="1"/>
              <a:t>처럼</a:t>
            </a:r>
            <a:r>
              <a:rPr lang="ko-KR" altLang="en-US" sz="1800" dirty="0"/>
              <a:t> 몇 개의 대표 세기를 정한다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ko-KR" altLang="en-US" sz="1800" dirty="0"/>
              <a:t>환경 내부에서는 </a:t>
            </a:r>
            <a:r>
              <a:rPr lang="en" altLang="ko-Kore-KR" sz="1800" dirty="0" err="1"/>
              <a:t>pitch_vocab</a:t>
            </a:r>
            <a:r>
              <a:rPr lang="ko-KR" altLang="en-US" sz="1800" dirty="0"/>
              <a:t>과 </a:t>
            </a:r>
            <a:r>
              <a:rPr lang="en" altLang="ko-Kore-KR" sz="1800" dirty="0" err="1"/>
              <a:t>vel_bins</a:t>
            </a:r>
            <a:r>
              <a:rPr lang="ko-KR" altLang="en-US" sz="1800" dirty="0"/>
              <a:t>의 모든 조합을 하나의 행동으로 보고</a:t>
            </a:r>
            <a:r>
              <a:rPr lang="en-US" altLang="ko-KR" sz="1800" dirty="0"/>
              <a:t>, </a:t>
            </a:r>
            <a:r>
              <a:rPr lang="ko-KR" altLang="en-US" sz="1800" dirty="0"/>
              <a:t>이 조합들에 순서를 매겨 “</a:t>
            </a:r>
            <a:r>
              <a:rPr lang="en-US" altLang="ko-KR" sz="1800" dirty="0"/>
              <a:t>0</a:t>
            </a:r>
            <a:r>
              <a:rPr lang="ko-KR" altLang="en-US" sz="1800" dirty="0" err="1"/>
              <a:t>부터</a:t>
            </a:r>
            <a:r>
              <a:rPr lang="ko-KR" altLang="en-US" sz="1800" dirty="0"/>
              <a:t> 시작하는 정수 </a:t>
            </a:r>
            <a:r>
              <a:rPr lang="ko-KR" altLang="en-US" sz="1800" dirty="0" err="1"/>
              <a:t>인덱스”로</a:t>
            </a:r>
            <a:r>
              <a:rPr lang="ko-KR" altLang="en-US" sz="1800" dirty="0"/>
              <a:t> 표현한다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ko-KR" altLang="en-US" sz="1800" dirty="0"/>
              <a:t>에이전트는 매 </a:t>
            </a:r>
            <a:r>
              <a:rPr lang="en" altLang="ko-Kore-KR" sz="1800" dirty="0"/>
              <a:t>step</a:t>
            </a:r>
            <a:r>
              <a:rPr lang="ko-KR" altLang="en-US" sz="1800" dirty="0"/>
              <a:t>마다 이 정수 행동 하나를 선택하고</a:t>
            </a:r>
            <a:r>
              <a:rPr lang="en-US" altLang="ko-KR" sz="1800" dirty="0"/>
              <a:t>, </a:t>
            </a:r>
            <a:r>
              <a:rPr lang="ko-KR" altLang="en-US" sz="1800" dirty="0"/>
              <a:t>환경은 이를 다시 </a:t>
            </a:r>
            <a:r>
              <a:rPr lang="en-US" altLang="ko-KR" sz="1800" dirty="0"/>
              <a:t>(</a:t>
            </a:r>
            <a:r>
              <a:rPr lang="en" altLang="ko-Kore-KR" sz="1800" dirty="0"/>
              <a:t>pitch, velocity) </a:t>
            </a:r>
            <a:r>
              <a:rPr lang="ko-KR" altLang="en-US" sz="1800" dirty="0"/>
              <a:t>한 쌍으로 디코딩해 사용한다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ko-KR" altLang="en-US" sz="1800" dirty="0"/>
              <a:t>결국 이 환경에서의 </a:t>
            </a:r>
            <a:r>
              <a:rPr lang="en" altLang="ko-Kore-KR" sz="1800" dirty="0"/>
              <a:t>action</a:t>
            </a:r>
            <a:r>
              <a:rPr lang="ko-KR" altLang="en-US" sz="1800" dirty="0"/>
              <a:t>은</a:t>
            </a:r>
            <a:br>
              <a:rPr lang="ko-KR" altLang="en-US" sz="1800" dirty="0"/>
            </a:br>
            <a:r>
              <a:rPr lang="ko-KR" altLang="en-US" sz="1800" dirty="0"/>
              <a:t>“이번 </a:t>
            </a:r>
            <a:r>
              <a:rPr lang="en" altLang="ko-Kore-KR" sz="1800" dirty="0"/>
              <a:t>beat</a:t>
            </a:r>
            <a:r>
              <a:rPr lang="ko-KR" altLang="en-US" sz="1800" dirty="0" err="1"/>
              <a:t>에</a:t>
            </a:r>
            <a:r>
              <a:rPr lang="ko-KR" altLang="en-US" sz="1800" dirty="0"/>
              <a:t> 낼 멜로디 음의 높이</a:t>
            </a:r>
            <a:r>
              <a:rPr lang="en-US" altLang="ko-KR" sz="1800" dirty="0"/>
              <a:t>(</a:t>
            </a:r>
            <a:r>
              <a:rPr lang="en" altLang="ko-Kore-KR" sz="1800" dirty="0"/>
              <a:t>pitch)</a:t>
            </a:r>
            <a:r>
              <a:rPr lang="ko-KR" altLang="en-US" sz="1800" dirty="0"/>
              <a:t>와 세기</a:t>
            </a:r>
            <a:r>
              <a:rPr lang="en-US" altLang="ko-KR" sz="1800" dirty="0"/>
              <a:t>(</a:t>
            </a:r>
            <a:r>
              <a:rPr lang="en" altLang="ko-Kore-KR" sz="1800" dirty="0"/>
              <a:t>velocity)</a:t>
            </a:r>
            <a:r>
              <a:rPr lang="ko-KR" altLang="en-US" sz="1800" dirty="0" err="1"/>
              <a:t>를</a:t>
            </a:r>
            <a:r>
              <a:rPr lang="ko-KR" altLang="en-US" sz="1800" dirty="0"/>
              <a:t> 선택하는 </a:t>
            </a:r>
            <a:r>
              <a:rPr lang="ko-KR" altLang="en-US" sz="1800" dirty="0" err="1"/>
              <a:t>것”으로</a:t>
            </a:r>
            <a:r>
              <a:rPr lang="ko-KR" altLang="en-US" sz="1800" dirty="0"/>
              <a:t> 해석할 수 있다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87593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9DB82-8909-ECE3-B778-23F8826F2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4423C2A-CE1A-9654-81F3-6411154F45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" altLang="ko-Kore-KR" sz="3200" b="1" dirty="0"/>
              <a:t>Reward </a:t>
            </a:r>
            <a:r>
              <a:rPr lang="ko-KR" altLang="en-US" sz="3200" b="1" dirty="0"/>
              <a:t>설계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6FA5863-5FA0-D6B6-4FC6-E3C7408552C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66CEFA1-26A5-55ED-D016-6E04536F8345}"/>
              </a:ext>
            </a:extLst>
          </p:cNvPr>
          <p:cNvSpPr txBox="1">
            <a:spLocks/>
          </p:cNvSpPr>
          <p:nvPr/>
        </p:nvSpPr>
        <p:spPr>
          <a:xfrm>
            <a:off x="671017" y="962025"/>
            <a:ext cx="9959796" cy="58336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sz="1800" dirty="0"/>
              <a:t>보상</a:t>
            </a:r>
            <a:r>
              <a:rPr lang="en-US" altLang="ko-KR" sz="1800" dirty="0"/>
              <a:t>(</a:t>
            </a:r>
            <a:r>
              <a:rPr lang="en" altLang="ko-Kore-KR" sz="1800" dirty="0"/>
              <a:t>reward)</a:t>
            </a:r>
            <a:r>
              <a:rPr lang="ko-KR" altLang="en-US" sz="1800" dirty="0"/>
              <a:t>은 생성된 멜로디가 현재 코드와 얼마나 잘 어울리는지</a:t>
            </a:r>
            <a:r>
              <a:rPr lang="en-US" altLang="ko-KR" sz="1800" dirty="0"/>
              <a:t>,</a:t>
            </a:r>
            <a:r>
              <a:rPr lang="ko-KR" altLang="en-US" sz="1800" dirty="0"/>
              <a:t> 직전 음과의 선율적 연결이 자연스러운지</a:t>
            </a:r>
            <a:r>
              <a:rPr lang="en-US" altLang="ko-KR" sz="1800" dirty="0"/>
              <a:t>,</a:t>
            </a:r>
            <a:r>
              <a:rPr lang="ko-KR" altLang="en-US" sz="1800" dirty="0"/>
              <a:t> 코드와의 다이내믹</a:t>
            </a:r>
            <a:r>
              <a:rPr lang="en-US" altLang="ko-KR" sz="1800" dirty="0"/>
              <a:t>(</a:t>
            </a:r>
            <a:r>
              <a:rPr lang="ko-KR" altLang="en-US" sz="1800" dirty="0"/>
              <a:t>세기</a:t>
            </a:r>
            <a:r>
              <a:rPr lang="en-US" altLang="ko-KR" sz="1800" dirty="0"/>
              <a:t>) </a:t>
            </a:r>
            <a:r>
              <a:rPr lang="ko-KR" altLang="en-US" sz="1800" dirty="0"/>
              <a:t>균형이 맞는지</a:t>
            </a:r>
            <a:r>
              <a:rPr lang="en-US" altLang="ko-KR" sz="1800" dirty="0"/>
              <a:t>,</a:t>
            </a:r>
            <a:r>
              <a:rPr lang="ko-KR" altLang="en-US" sz="1800" dirty="0"/>
              <a:t> 직전 멜로디와의 다이내믹 변화가 적절한지를 기반으로 계산된다</a:t>
            </a:r>
            <a:r>
              <a:rPr lang="en-US" altLang="ko-KR" sz="1800" dirty="0"/>
              <a:t>.</a:t>
            </a:r>
          </a:p>
          <a:p>
            <a:r>
              <a:rPr lang="en-US" altLang="ko-KR" sz="1800" b="1" dirty="0"/>
              <a:t>1) </a:t>
            </a:r>
            <a:r>
              <a:rPr lang="ko-KR" altLang="en-US" sz="1800" b="1" dirty="0" err="1"/>
              <a:t>코드톤</a:t>
            </a:r>
            <a:r>
              <a:rPr lang="ko-KR" altLang="en-US" sz="1800" b="1" dirty="0"/>
              <a:t> 포함 여부</a:t>
            </a:r>
          </a:p>
          <a:p>
            <a:r>
              <a:rPr lang="ko-KR" altLang="en-US" sz="1800" dirty="0"/>
              <a:t>현재 </a:t>
            </a:r>
            <a:r>
              <a:rPr lang="en" altLang="ko-Kore-KR" sz="1800" dirty="0"/>
              <a:t>step</a:t>
            </a:r>
            <a:r>
              <a:rPr lang="ko-KR" altLang="en-US" sz="1800" dirty="0"/>
              <a:t>의 코드 구성 음 목록을 기준으로</a:t>
            </a:r>
            <a:r>
              <a:rPr lang="en-US" altLang="ko-KR" sz="1800" dirty="0"/>
              <a:t>, </a:t>
            </a:r>
            <a:r>
              <a:rPr lang="ko-KR" altLang="en-US" sz="1800" dirty="0"/>
              <a:t>에이전트가 선택한 </a:t>
            </a:r>
            <a:r>
              <a:rPr lang="en" altLang="ko-Kore-KR" sz="1800" dirty="0"/>
              <a:t>pitch</a:t>
            </a:r>
            <a:r>
              <a:rPr lang="ko-KR" altLang="en-US" sz="1800" dirty="0"/>
              <a:t>가 코드에 포함되어 있으면 양의 보상을 준다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코드에 포함되지 않은 음</a:t>
            </a:r>
            <a:r>
              <a:rPr lang="en-US" altLang="ko-KR" sz="1800" dirty="0"/>
              <a:t>(</a:t>
            </a:r>
            <a:r>
              <a:rPr lang="ko-KR" altLang="en-US" sz="1800" dirty="0"/>
              <a:t>코드 밖의 음</a:t>
            </a:r>
            <a:r>
              <a:rPr lang="en-US" altLang="ko-KR" sz="1800" dirty="0"/>
              <a:t>)</a:t>
            </a:r>
            <a:r>
              <a:rPr lang="ko-KR" altLang="en-US" sz="1800" dirty="0"/>
              <a:t>을 선택한 경우에는 </a:t>
            </a:r>
            <a:r>
              <a:rPr lang="ko-KR" altLang="en-US" sz="1800" dirty="0" err="1"/>
              <a:t>패널티를</a:t>
            </a:r>
            <a:r>
              <a:rPr lang="ko-KR" altLang="en-US" sz="1800" dirty="0"/>
              <a:t> 부여한다</a:t>
            </a:r>
            <a:r>
              <a:rPr lang="en-US" altLang="ko-KR" sz="1800" dirty="0"/>
              <a:t>.</a:t>
            </a:r>
          </a:p>
          <a:p>
            <a:r>
              <a:rPr lang="en-US" altLang="ko-KR" sz="1800" b="1" dirty="0"/>
              <a:t>2) </a:t>
            </a:r>
            <a:r>
              <a:rPr lang="ko-KR" altLang="en-US" sz="1800" b="1" dirty="0"/>
              <a:t>음정 진행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이전 음과의 차이</a:t>
            </a:r>
            <a:r>
              <a:rPr lang="en-US" altLang="ko-KR" sz="1800" b="1" dirty="0"/>
              <a:t>)</a:t>
            </a:r>
          </a:p>
          <a:p>
            <a:r>
              <a:rPr lang="ko-KR" altLang="en-US" sz="1800" dirty="0"/>
              <a:t>직전에 연주한 </a:t>
            </a:r>
            <a:r>
              <a:rPr lang="en" altLang="ko-Kore-KR" sz="1800" dirty="0"/>
              <a:t>pitch</a:t>
            </a:r>
            <a:r>
              <a:rPr lang="ko-KR" altLang="en-US" sz="1800" dirty="0"/>
              <a:t>와 현재 </a:t>
            </a:r>
            <a:r>
              <a:rPr lang="en" altLang="ko-Kore-KR" sz="1800" dirty="0"/>
              <a:t>pitch</a:t>
            </a:r>
            <a:r>
              <a:rPr lang="ko-KR" altLang="en-US" sz="1800" dirty="0"/>
              <a:t>의 차이를 이용해 음정 이동 크기를 계산한다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반음</a:t>
            </a:r>
            <a:r>
              <a:rPr lang="en-US" altLang="ko-KR" sz="1800" dirty="0"/>
              <a:t>~</a:t>
            </a:r>
            <a:r>
              <a:rPr lang="ko-KR" altLang="en-US" sz="1800" dirty="0"/>
              <a:t>온음 정도의 작은 이동이나 </a:t>
            </a:r>
            <a:r>
              <a:rPr lang="en-US" altLang="ko-KR" sz="1800" dirty="0"/>
              <a:t>3~4</a:t>
            </a:r>
            <a:r>
              <a:rPr lang="ko-KR" altLang="en-US" sz="1800" dirty="0"/>
              <a:t>도 수준의 자연스러운 이동에는 양의 보상을 준다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한 옥타브 이상의 큰 점프처럼 지나치게 큰 이동에는 </a:t>
            </a:r>
            <a:r>
              <a:rPr lang="ko-KR" altLang="en-US" sz="1800" dirty="0" err="1"/>
              <a:t>패널티를</a:t>
            </a:r>
            <a:r>
              <a:rPr lang="ko-KR" altLang="en-US" sz="1800" dirty="0"/>
              <a:t> 부여한다</a:t>
            </a:r>
            <a:r>
              <a:rPr lang="en-US" altLang="ko-KR" sz="1800" dirty="0"/>
              <a:t>.</a:t>
            </a:r>
          </a:p>
          <a:p>
            <a:r>
              <a:rPr lang="en-US" altLang="ko-KR" sz="1800" b="1" dirty="0"/>
              <a:t>3) </a:t>
            </a:r>
            <a:r>
              <a:rPr lang="ko-KR" altLang="en-US" sz="1800" b="1" dirty="0"/>
              <a:t>코드 </a:t>
            </a:r>
            <a:r>
              <a:rPr lang="ko-KR" altLang="en-US" sz="1800" b="1" dirty="0" err="1"/>
              <a:t>다이내믹과의</a:t>
            </a:r>
            <a:r>
              <a:rPr lang="ko-KR" altLang="en-US" sz="1800" b="1" dirty="0"/>
              <a:t> 일치</a:t>
            </a:r>
          </a:p>
          <a:p>
            <a:r>
              <a:rPr lang="ko-KR" altLang="en-US" sz="1800" dirty="0"/>
              <a:t>현재 코드에 포함된 음들의 </a:t>
            </a:r>
            <a:r>
              <a:rPr lang="en" altLang="ko-Kore-KR" sz="1800" dirty="0"/>
              <a:t>velocity </a:t>
            </a:r>
            <a:r>
              <a:rPr lang="ko-KR" altLang="en-US" sz="1800" dirty="0"/>
              <a:t>평균을 계산하고</a:t>
            </a:r>
            <a:r>
              <a:rPr lang="en-US" altLang="ko-KR" sz="1800" dirty="0"/>
              <a:t>,</a:t>
            </a:r>
            <a:r>
              <a:rPr lang="ko-KR" altLang="en-US" sz="1800" dirty="0"/>
              <a:t> 에이전트가 선택한 멜로디 </a:t>
            </a:r>
            <a:r>
              <a:rPr lang="en" altLang="ko-Kore-KR" sz="1800" dirty="0"/>
              <a:t>velocity</a:t>
            </a:r>
            <a:r>
              <a:rPr lang="ko-KR" altLang="en-US" sz="1800" dirty="0" err="1"/>
              <a:t>와의</a:t>
            </a:r>
            <a:r>
              <a:rPr lang="ko-KR" altLang="en-US" sz="1800" dirty="0"/>
              <a:t> 차이를 비교한다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차이가 작을수록</a:t>
            </a:r>
            <a:r>
              <a:rPr lang="en-US" altLang="ko-KR" sz="1800" dirty="0"/>
              <a:t>(</a:t>
            </a:r>
            <a:r>
              <a:rPr lang="ko-KR" altLang="en-US" sz="1800" dirty="0"/>
              <a:t>코드와 비슷한 세기</a:t>
            </a:r>
            <a:r>
              <a:rPr lang="en-US" altLang="ko-KR" sz="1800" dirty="0"/>
              <a:t>) </a:t>
            </a:r>
            <a:r>
              <a:rPr lang="ko-KR" altLang="en-US" sz="1800" dirty="0"/>
              <a:t>더 큰 보상을 부여한다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어느 정도 차이는 허용하지만</a:t>
            </a:r>
            <a:r>
              <a:rPr lang="en-US" altLang="ko-KR" sz="1800" dirty="0"/>
              <a:t>, </a:t>
            </a:r>
            <a:r>
              <a:rPr lang="ko-KR" altLang="en-US" sz="1800" dirty="0"/>
              <a:t>코드 대비 지나치게 작거나 큰 </a:t>
            </a:r>
            <a:r>
              <a:rPr lang="en" altLang="ko-Kore-KR" sz="1800" dirty="0"/>
              <a:t>velocity</a:t>
            </a:r>
            <a:r>
              <a:rPr lang="ko-KR" altLang="en-US" sz="1800" dirty="0" err="1"/>
              <a:t>를</a:t>
            </a:r>
            <a:r>
              <a:rPr lang="ko-KR" altLang="en-US" sz="1800" dirty="0"/>
              <a:t> 선택하면 </a:t>
            </a:r>
            <a:r>
              <a:rPr lang="ko-KR" altLang="en-US" sz="1800" dirty="0" err="1"/>
              <a:t>패널티를</a:t>
            </a:r>
            <a:r>
              <a:rPr lang="ko-KR" altLang="en-US" sz="1800" dirty="0"/>
              <a:t> 부여한다</a:t>
            </a:r>
            <a:r>
              <a:rPr lang="en-US" altLang="ko-KR" sz="1800" dirty="0"/>
              <a:t>.</a:t>
            </a:r>
          </a:p>
          <a:p>
            <a:r>
              <a:rPr lang="en-US" altLang="ko-KR" sz="1800" b="1" dirty="0"/>
              <a:t>4) </a:t>
            </a:r>
            <a:r>
              <a:rPr lang="ko-KR" altLang="en-US" sz="1800" b="1" dirty="0"/>
              <a:t>직전 멜로디와의 </a:t>
            </a:r>
            <a:r>
              <a:rPr lang="en" altLang="ko-Kore-KR" sz="1800" b="1" dirty="0"/>
              <a:t>velocity </a:t>
            </a:r>
            <a:r>
              <a:rPr lang="ko-KR" altLang="en-US" sz="1800" b="1" dirty="0"/>
              <a:t>변화</a:t>
            </a:r>
          </a:p>
          <a:p>
            <a:r>
              <a:rPr lang="ko-KR" altLang="en-US" sz="1800" dirty="0"/>
              <a:t>직전 멜로디 </a:t>
            </a:r>
            <a:r>
              <a:rPr lang="en" altLang="ko-Kore-KR" sz="1800" dirty="0"/>
              <a:t>velocity</a:t>
            </a:r>
            <a:r>
              <a:rPr lang="ko-KR" altLang="en-US" sz="1800" dirty="0"/>
              <a:t>와 현재 </a:t>
            </a:r>
            <a:r>
              <a:rPr lang="en" altLang="ko-Kore-KR" sz="1800" dirty="0"/>
              <a:t>velocity</a:t>
            </a:r>
            <a:r>
              <a:rPr lang="ko-KR" altLang="en-US" sz="1800" dirty="0"/>
              <a:t>의 차이를 이용해 변화량을 측정한다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적당한 범위 안에서의 변화에는 약한 양의 보상을 주고</a:t>
            </a:r>
            <a:r>
              <a:rPr lang="en-US" altLang="ko-KR" sz="1800" dirty="0"/>
              <a:t>,</a:t>
            </a:r>
            <a:r>
              <a:rPr lang="ko-KR" altLang="en-US" sz="1800" dirty="0"/>
              <a:t> 너무 큰 변화에는 </a:t>
            </a:r>
            <a:r>
              <a:rPr lang="ko-KR" altLang="en-US" sz="1800" dirty="0" err="1"/>
              <a:t>패널티를</a:t>
            </a:r>
            <a:r>
              <a:rPr lang="ko-KR" altLang="en-US" sz="1800" dirty="0"/>
              <a:t> 부여한다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678136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2DD11-358B-D427-263F-2D18FD12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3769A80-007F-2F43-E9D8-A7059DECC7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ko-KR" altLang="en-US" dirty="0"/>
              <a:t>알고리즘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E3B239C-A130-C070-B765-56BB33FA11A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4F79855-A076-90BF-54AB-5F1A4B8F64B6}"/>
              </a:ext>
            </a:extLst>
          </p:cNvPr>
          <p:cNvSpPr txBox="1">
            <a:spLocks/>
          </p:cNvSpPr>
          <p:nvPr/>
        </p:nvSpPr>
        <p:spPr>
          <a:xfrm>
            <a:off x="729516" y="1278018"/>
            <a:ext cx="9959796" cy="140166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sz="1800" dirty="0"/>
              <a:t>프로젝트에서는 </a:t>
            </a:r>
            <a:r>
              <a:rPr lang="en" altLang="ko-Kore-KR" sz="1800" b="1" dirty="0"/>
              <a:t>DQN(Deep Q-Network)</a:t>
            </a:r>
            <a:r>
              <a:rPr lang="en" altLang="ko-Kore-KR" sz="1800" dirty="0"/>
              <a:t> </a:t>
            </a:r>
            <a:r>
              <a:rPr lang="ko-KR" altLang="en-US" sz="1800" dirty="0"/>
              <a:t>을 사용하였다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pPr lvl="1"/>
            <a:r>
              <a:rPr lang="ko-KR" altLang="en-US" dirty="0"/>
              <a:t>상태 공간이 연속적인 실수 벡터이므로 </a:t>
            </a:r>
            <a:r>
              <a:rPr lang="en" altLang="ko-Kore-KR" dirty="0"/>
              <a:t>Q-table </a:t>
            </a:r>
            <a:r>
              <a:rPr lang="ko-KR" altLang="en-US" dirty="0"/>
              <a:t>사용이 불가능했고 행동 공간이 이산적이면서 크지는 않기 때문에</a:t>
            </a:r>
            <a:r>
              <a:rPr lang="en-US" altLang="ko-KR" dirty="0"/>
              <a:t>, </a:t>
            </a:r>
            <a:r>
              <a:rPr lang="ko-KR" altLang="en-US" dirty="0"/>
              <a:t>값 기반</a:t>
            </a:r>
            <a:r>
              <a:rPr lang="en-US" altLang="ko-KR" dirty="0"/>
              <a:t>(</a:t>
            </a:r>
            <a:r>
              <a:rPr lang="en" altLang="ko-Kore-KR" dirty="0"/>
              <a:t>Value-based) </a:t>
            </a:r>
            <a:r>
              <a:rPr lang="ko-KR" altLang="en-US" dirty="0"/>
              <a:t>접근이 적합하다고 생각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C2EC32B-919B-2591-EB66-49B18BF53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095818"/>
              </p:ext>
            </p:extLst>
          </p:nvPr>
        </p:nvGraphicFramePr>
        <p:xfrm>
          <a:off x="5270500" y="3248023"/>
          <a:ext cx="4419600" cy="2905627"/>
        </p:xfrm>
        <a:graphic>
          <a:graphicData uri="http://schemas.openxmlformats.org/drawingml/2006/table">
            <a:tbl>
              <a:tblPr/>
              <a:tblGrid>
                <a:gridCol w="1473200">
                  <a:extLst>
                    <a:ext uri="{9D8B030D-6E8A-4147-A177-3AD203B41FA5}">
                      <a16:colId xmlns:a16="http://schemas.microsoft.com/office/drawing/2014/main" val="3335589265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313863059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863901461"/>
                    </a:ext>
                  </a:extLst>
                </a:gridCol>
              </a:tblGrid>
              <a:tr h="168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700" dirty="0"/>
                        <a:t>항목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700"/>
                        <a:t>값 </a:t>
                      </a:r>
                      <a:r>
                        <a:rPr lang="en-US" altLang="ko-KR" sz="700"/>
                        <a:t>(</a:t>
                      </a:r>
                      <a:r>
                        <a:rPr lang="ko-KR" altLang="en-US" sz="700"/>
                        <a:t>예시</a:t>
                      </a:r>
                      <a:r>
                        <a:rPr lang="en-US" altLang="ko-KR" sz="700"/>
                        <a:t>)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700"/>
                        <a:t>설명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851842"/>
                  </a:ext>
                </a:extLst>
              </a:tr>
              <a:tr h="294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700" dirty="0"/>
                        <a:t>Learning rate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700" dirty="0"/>
                        <a:t>1e-4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700"/>
                        <a:t>Q-network </a:t>
                      </a:r>
                      <a:r>
                        <a:rPr lang="ko-KR" altLang="en-US" sz="700"/>
                        <a:t>최적화를 위한 학습률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208379"/>
                  </a:ext>
                </a:extLst>
              </a:tr>
              <a:tr h="294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700" dirty="0"/>
                        <a:t>Discount factor (</a:t>
                      </a:r>
                      <a:r>
                        <a:rPr lang="el-GR" sz="700" dirty="0"/>
                        <a:t>γ)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ore-KR" sz="700" dirty="0"/>
                        <a:t>0.5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700"/>
                        <a:t>미래 보상의 중요도를 결정하는 할인율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718832"/>
                  </a:ext>
                </a:extLst>
              </a:tr>
              <a:tr h="421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700"/>
                        <a:t>Batch size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ore-KR" sz="700" dirty="0"/>
                        <a:t>64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700"/>
                        <a:t>매 학습 </a:t>
                      </a:r>
                      <a:r>
                        <a:rPr lang="en" sz="700"/>
                        <a:t>step</a:t>
                      </a:r>
                      <a:r>
                        <a:rPr lang="ko-KR" altLang="en-US" sz="700"/>
                        <a:t>에서 샘플링하는 </a:t>
                      </a:r>
                      <a:r>
                        <a:rPr lang="en" sz="700"/>
                        <a:t>transition </a:t>
                      </a:r>
                      <a:r>
                        <a:rPr lang="ko-KR" altLang="en-US" sz="700"/>
                        <a:t>개수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735293"/>
                  </a:ext>
                </a:extLst>
              </a:tr>
              <a:tr h="294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700"/>
                        <a:t>Replay buffer </a:t>
                      </a:r>
                      <a:r>
                        <a:rPr lang="ko-KR" altLang="en-US" sz="700"/>
                        <a:t>크기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700" dirty="0"/>
                        <a:t>50,000 step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700" dirty="0"/>
                        <a:t>경험을 저장하는 버퍼의 최대 길이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418032"/>
                  </a:ext>
                </a:extLst>
              </a:tr>
              <a:tr h="294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700"/>
                        <a:t>최소 버퍼 크기 </a:t>
                      </a:r>
                      <a:r>
                        <a:rPr lang="en-US" altLang="ko-KR" sz="700"/>
                        <a:t>(</a:t>
                      </a:r>
                      <a:r>
                        <a:rPr lang="en" sz="700"/>
                        <a:t>warm-up)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700"/>
                        <a:t>1,000 step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700" dirty="0"/>
                        <a:t>이 이상 쌓인 후부터 네트워크 학습 시작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856155"/>
                  </a:ext>
                </a:extLst>
              </a:tr>
              <a:tr h="421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700"/>
                        <a:t>Target network </a:t>
                      </a:r>
                      <a:r>
                        <a:rPr lang="ko-KR" altLang="en-US" sz="700"/>
                        <a:t>업데이트 주기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700"/>
                        <a:t>1,000 step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700" dirty="0"/>
                        <a:t>target Q-network</a:t>
                      </a:r>
                      <a:r>
                        <a:rPr lang="ko-KR" altLang="en-US" sz="700" dirty="0" err="1"/>
                        <a:t>를</a:t>
                      </a:r>
                      <a:r>
                        <a:rPr lang="ko-KR" altLang="en-US" sz="700" dirty="0"/>
                        <a:t> </a:t>
                      </a:r>
                      <a:r>
                        <a:rPr lang="en" sz="700" dirty="0"/>
                        <a:t>online Q-network</a:t>
                      </a:r>
                      <a:r>
                        <a:rPr lang="ko-KR" altLang="en-US" sz="700" dirty="0"/>
                        <a:t>로 동기화하는 주기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031516"/>
                  </a:ext>
                </a:extLst>
              </a:tr>
              <a:tr h="294774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8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max_episodes</a:t>
                      </a:r>
                      <a:endParaRPr lang="en" altLang="ko-Kore-KR" sz="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None/>
                      </a:pPr>
                      <a:endParaRPr lang="ko-KR" altLang="en-US" sz="700" dirty="0"/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ore-KR" sz="700" dirty="0"/>
                        <a:t>5,000 step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700" dirty="0"/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604087"/>
                  </a:ext>
                </a:extLst>
              </a:tr>
              <a:tr h="421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700"/>
                        <a:t>ε </a:t>
                      </a:r>
                      <a:r>
                        <a:rPr lang="ko-KR" altLang="en-US" sz="700"/>
                        <a:t>감소 방식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700"/>
                        <a:t>선형</a:t>
                      </a:r>
                      <a:r>
                        <a:rPr lang="en-US" altLang="ko-KR" sz="700"/>
                        <a:t>/</a:t>
                      </a:r>
                      <a:r>
                        <a:rPr lang="ko-KR" altLang="en-US" sz="700"/>
                        <a:t>지수 감소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700" dirty="0"/>
                        <a:t>일정 </a:t>
                      </a:r>
                      <a:r>
                        <a:rPr lang="en" sz="700" dirty="0"/>
                        <a:t>step </a:t>
                      </a:r>
                      <a:r>
                        <a:rPr lang="ko-KR" altLang="en-US" sz="700" dirty="0"/>
                        <a:t>동안 </a:t>
                      </a:r>
                      <a:r>
                        <a:rPr lang="el-GR" sz="700" dirty="0"/>
                        <a:t>ε</a:t>
                      </a:r>
                      <a:r>
                        <a:rPr lang="ko-KR" altLang="en-US" sz="700" dirty="0" err="1"/>
                        <a:t>를</a:t>
                      </a:r>
                      <a:r>
                        <a:rPr lang="ko-KR" altLang="en-US" sz="700" dirty="0"/>
                        <a:t> </a:t>
                      </a:r>
                      <a:r>
                        <a:rPr lang="en-US" altLang="ko-KR" sz="700" dirty="0"/>
                        <a:t>1.0 → 0.05</a:t>
                      </a:r>
                      <a:r>
                        <a:rPr lang="ko-KR" altLang="en-US" sz="700" dirty="0"/>
                        <a:t>로 선형 또는 지수 형태로 감소</a:t>
                      </a:r>
                    </a:p>
                  </a:txBody>
                  <a:tcPr marL="36617" marR="36617" marT="18308" marB="183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354757"/>
                  </a:ext>
                </a:extLst>
              </a:tr>
            </a:tbl>
          </a:graphicData>
        </a:graphic>
      </p:graphicFrame>
      <p:pic>
        <p:nvPicPr>
          <p:cNvPr id="7" name="그림 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9A6D34-8900-D309-82F4-02FCDBCAA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22" y="2841457"/>
            <a:ext cx="3038386" cy="371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887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4B60-B025-55FD-D149-0A8551D8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B81BE9B-0C18-F3EF-C284-C931C80546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ko-KR" altLang="en-US" sz="3200" b="1" dirty="0"/>
              <a:t>실험 셋업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5DF2A5E-7B57-C1E4-5AA1-D8DDF3B3890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D46EBA9-0B27-E1D2-818D-2DA6BE7D4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879288"/>
              </p:ext>
            </p:extLst>
          </p:nvPr>
        </p:nvGraphicFramePr>
        <p:xfrm>
          <a:off x="795766" y="1800225"/>
          <a:ext cx="5617733" cy="2362199"/>
        </p:xfrm>
        <a:graphic>
          <a:graphicData uri="http://schemas.openxmlformats.org/drawingml/2006/table">
            <a:tbl>
              <a:tblPr>
                <a:solidFill>
                  <a:srgbClr val="F0F4F9"/>
                </a:solidFill>
              </a:tblPr>
              <a:tblGrid>
                <a:gridCol w="1352357">
                  <a:extLst>
                    <a:ext uri="{9D8B030D-6E8A-4147-A177-3AD203B41FA5}">
                      <a16:colId xmlns:a16="http://schemas.microsoft.com/office/drawing/2014/main" val="3166246139"/>
                    </a:ext>
                  </a:extLst>
                </a:gridCol>
                <a:gridCol w="962448">
                  <a:extLst>
                    <a:ext uri="{9D8B030D-6E8A-4147-A177-3AD203B41FA5}">
                      <a16:colId xmlns:a16="http://schemas.microsoft.com/office/drawing/2014/main" val="3674985572"/>
                    </a:ext>
                  </a:extLst>
                </a:gridCol>
                <a:gridCol w="3302928">
                  <a:extLst>
                    <a:ext uri="{9D8B030D-6E8A-4147-A177-3AD203B41FA5}">
                      <a16:colId xmlns:a16="http://schemas.microsoft.com/office/drawing/2014/main" val="2276880842"/>
                    </a:ext>
                  </a:extLst>
                </a:gridCol>
              </a:tblGrid>
              <a:tr h="46408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highlight>
                            <a:srgbClr val="F0F4F9"/>
                          </a:highlight>
                        </a:rPr>
                        <a:t>GPU</a:t>
                      </a:r>
                      <a:endParaRPr sz="1000" b="1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highlight>
                            <a:srgbClr val="F0F4F9"/>
                          </a:highlight>
                        </a:rPr>
                        <a:t>T4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highlight>
                            <a:srgbClr val="F0F4F9"/>
                          </a:highlight>
                        </a:rPr>
                        <a:t>15GB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379018"/>
                  </a:ext>
                </a:extLst>
              </a:tr>
              <a:tr h="46408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highlight>
                            <a:srgbClr val="F0F4F9"/>
                          </a:highlight>
                        </a:rPr>
                        <a:t>프레임워크</a:t>
                      </a:r>
                      <a:endParaRPr sz="1000" b="1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highlight>
                            <a:srgbClr val="F0F4F9"/>
                          </a:highlight>
                        </a:rPr>
                        <a:t>pytorch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highlight>
                            <a:srgbClr val="F0F4F9"/>
                          </a:highlight>
                        </a:rPr>
                        <a:t>PyTorch: 2.9.0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12196"/>
                  </a:ext>
                </a:extLst>
              </a:tr>
              <a:tr h="50586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highlight>
                            <a:srgbClr val="F0F4F9"/>
                          </a:highlight>
                        </a:rPr>
                        <a:t>OS</a:t>
                      </a:r>
                      <a:endParaRPr sz="1000" b="1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highlight>
                            <a:srgbClr val="F0F4F9"/>
                          </a:highlight>
                        </a:rPr>
                        <a:t>Linux</a:t>
                      </a:r>
                      <a:endParaRPr sz="1000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Linux-6.6.105+-x86_64-with-glibc2.35</a:t>
                      </a:r>
                      <a:endParaRPr sz="800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853619"/>
                  </a:ext>
                </a:extLst>
              </a:tr>
              <a:tr h="46408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  <a:highlight>
                            <a:srgbClr val="F0F4F9"/>
                          </a:highlight>
                        </a:rPr>
                        <a:t>Python</a:t>
                      </a:r>
                      <a:endParaRPr sz="1000" b="1" dirty="0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highlight>
                            <a:srgbClr val="F0F4F9"/>
                          </a:highlight>
                        </a:rPr>
                        <a:t>3.12.12</a:t>
                      </a:r>
                      <a:endParaRPr sz="1000" dirty="0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204418"/>
                  </a:ext>
                </a:extLst>
              </a:tr>
              <a:tr h="46408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1F1F1F"/>
                          </a:solidFill>
                          <a:highlight>
                            <a:srgbClr val="F0F4F9"/>
                          </a:highlight>
                        </a:rPr>
                        <a:t>라이브러리</a:t>
                      </a:r>
                      <a:endParaRPr sz="1000" b="1" dirty="0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rgbClr val="1F1F1F"/>
                        </a:solidFill>
                        <a:highlight>
                          <a:srgbClr val="F0F4F9"/>
                        </a:highlight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ore-KR" sz="1000" dirty="0">
                          <a:highlight>
                            <a:srgbClr val="F0F4F9"/>
                          </a:highlight>
                        </a:rPr>
                        <a:t>NumPy, </a:t>
                      </a:r>
                      <a:r>
                        <a:rPr lang="en" altLang="ko-Kore-KR" sz="1000" dirty="0" err="1">
                          <a:highlight>
                            <a:srgbClr val="F0F4F9"/>
                          </a:highlight>
                        </a:rPr>
                        <a:t>pretty_midi</a:t>
                      </a:r>
                      <a:r>
                        <a:rPr lang="en" altLang="ko-Kore-KR" sz="1000" dirty="0">
                          <a:highlight>
                            <a:srgbClr val="F0F4F9"/>
                          </a:highlight>
                        </a:rPr>
                        <a:t> (MIDI </a:t>
                      </a:r>
                      <a:r>
                        <a:rPr lang="ko-KR" altLang="en-US" sz="1000" dirty="0">
                          <a:highlight>
                            <a:srgbClr val="F0F4F9"/>
                          </a:highlight>
                        </a:rPr>
                        <a:t>생성</a:t>
                      </a:r>
                      <a:r>
                        <a:rPr lang="en-US" altLang="ko-KR" sz="1000" dirty="0">
                          <a:highlight>
                            <a:srgbClr val="F0F4F9"/>
                          </a:highlight>
                        </a:rPr>
                        <a:t>),</a:t>
                      </a:r>
                      <a:r>
                        <a:rPr lang="en" altLang="ko-Kore-KR" sz="1000" dirty="0">
                          <a:highlight>
                            <a:srgbClr val="F0F4F9"/>
                          </a:highlight>
                        </a:rPr>
                        <a:t>matplotlib, </a:t>
                      </a:r>
                      <a:r>
                        <a:rPr lang="en" altLang="ko-Kore-KR" sz="1000" dirty="0" err="1">
                          <a:highlight>
                            <a:srgbClr val="F0F4F9"/>
                          </a:highlight>
                        </a:rPr>
                        <a:t>tqdm</a:t>
                      </a:r>
                      <a:r>
                        <a:rPr lang="en" altLang="ko-Kore-KR" sz="1000" dirty="0">
                          <a:highlight>
                            <a:srgbClr val="F0F4F9"/>
                          </a:highlight>
                        </a:rPr>
                        <a:t> </a:t>
                      </a:r>
                      <a:r>
                        <a:rPr lang="ko-KR" altLang="en-US" sz="1000" dirty="0">
                          <a:highlight>
                            <a:srgbClr val="F0F4F9"/>
                          </a:highlight>
                        </a:rPr>
                        <a:t>등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669850"/>
                  </a:ext>
                </a:extLst>
              </a:tr>
            </a:tbl>
          </a:graphicData>
        </a:graphic>
      </p:graphicFrame>
      <p:sp>
        <p:nvSpPr>
          <p:cNvPr id="4" name="object 2">
            <a:extLst>
              <a:ext uri="{FF2B5EF4-FFF2-40B4-BE49-F238E27FC236}">
                <a16:creationId xmlns:a16="http://schemas.microsoft.com/office/drawing/2014/main" id="{DA9A765F-5337-7C97-4347-F7C69C0E8E7B}"/>
              </a:ext>
            </a:extLst>
          </p:cNvPr>
          <p:cNvSpPr txBox="1">
            <a:spLocks/>
          </p:cNvSpPr>
          <p:nvPr/>
        </p:nvSpPr>
        <p:spPr>
          <a:xfrm>
            <a:off x="795767" y="1125555"/>
            <a:ext cx="990600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sz="1800" dirty="0"/>
              <a:t>실험환경</a:t>
            </a:r>
          </a:p>
        </p:txBody>
      </p:sp>
    </p:spTree>
    <p:extLst>
      <p:ext uri="{BB962C8B-B14F-4D97-AF65-F5344CB8AC3E}">
        <p14:creationId xmlns:p14="http://schemas.microsoft.com/office/powerpoint/2010/main" val="2605518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08715-B875-5C16-15F0-8F760448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802E164-69C6-1882-3913-67E99740FC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ko-KR" altLang="en-US" sz="3200" b="1" dirty="0"/>
              <a:t>실험 결과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96ED58A-79F0-B6E1-2787-36D64F90C77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820554" y="7162388"/>
            <a:ext cx="326746" cy="2141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pic>
        <p:nvPicPr>
          <p:cNvPr id="8" name="그림 7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0A05C1-0CEB-DC8E-782C-EC01F33E0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1419225"/>
            <a:ext cx="763143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010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49580-52CC-F2F3-921E-62BEB6BC3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9272BC-F5A5-B748-D3C1-43960AA75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ko-KR" altLang="en-US" sz="3200" b="1" dirty="0"/>
              <a:t>지표 비교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3573889-63DA-10CF-3C4F-0AC54EE6D58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820554" y="7162388"/>
            <a:ext cx="326746" cy="2141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83DBF0EA-B4B9-CFAA-33FF-55366448BA2D}"/>
              </a:ext>
            </a:extLst>
          </p:cNvPr>
          <p:cNvSpPr txBox="1">
            <a:spLocks/>
          </p:cNvSpPr>
          <p:nvPr/>
        </p:nvSpPr>
        <p:spPr>
          <a:xfrm>
            <a:off x="750236" y="1190625"/>
            <a:ext cx="1853263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sz="1800" dirty="0"/>
              <a:t>객관적 평가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FBEB15D-0246-A224-39BE-F761A0A14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1647825"/>
            <a:ext cx="4092331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E1AD56-B840-2CA6-0D5F-BAA805204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77" y="4870958"/>
            <a:ext cx="3552729" cy="2088134"/>
          </a:xfrm>
          <a:prstGeom prst="rect">
            <a:avLst/>
          </a:prstGeom>
        </p:spPr>
      </p:pic>
      <p:pic>
        <p:nvPicPr>
          <p:cNvPr id="12" name="그림 11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E8FFB5-D5D4-6FEE-65C1-81578BE5E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2706" y="4927398"/>
            <a:ext cx="3331090" cy="1975254"/>
          </a:xfrm>
          <a:prstGeom prst="rect">
            <a:avLst/>
          </a:prstGeom>
        </p:spPr>
      </p:pic>
      <p:pic>
        <p:nvPicPr>
          <p:cNvPr id="14" name="그림 13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ED25EF-FE35-64E8-88BC-F726AEC4CE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796" y="4894812"/>
            <a:ext cx="3331090" cy="1933959"/>
          </a:xfrm>
          <a:prstGeom prst="rect">
            <a:avLst/>
          </a:prstGeom>
        </p:spPr>
      </p:pic>
      <p:sp>
        <p:nvSpPr>
          <p:cNvPr id="15" name="object 2">
            <a:extLst>
              <a:ext uri="{FF2B5EF4-FFF2-40B4-BE49-F238E27FC236}">
                <a16:creationId xmlns:a16="http://schemas.microsoft.com/office/drawing/2014/main" id="{3E9887CC-7905-FCAA-46FF-BDA9E84FE923}"/>
              </a:ext>
            </a:extLst>
          </p:cNvPr>
          <p:cNvSpPr txBox="1">
            <a:spLocks/>
          </p:cNvSpPr>
          <p:nvPr/>
        </p:nvSpPr>
        <p:spPr>
          <a:xfrm>
            <a:off x="4965700" y="710612"/>
            <a:ext cx="5486400" cy="38946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sz="1400" dirty="0"/>
              <a:t>랜덤 정책의 에피소드당 평균 </a:t>
            </a:r>
            <a:r>
              <a:rPr lang="en" altLang="ko-Kore-KR" sz="1400" dirty="0"/>
              <a:t>return</a:t>
            </a:r>
            <a:r>
              <a:rPr lang="ko-KR" altLang="en-US" sz="1400" dirty="0"/>
              <a:t>은 약 </a:t>
            </a:r>
            <a:r>
              <a:rPr lang="en-US" altLang="ko-KR" sz="1400" b="1" dirty="0"/>
              <a:t>-45.9</a:t>
            </a:r>
            <a:r>
              <a:rPr lang="ko-KR" altLang="en-US" sz="1400" dirty="0"/>
              <a:t>인 반면</a:t>
            </a:r>
            <a:r>
              <a:rPr lang="en-US" altLang="ko-KR" sz="1400" dirty="0"/>
              <a:t>, </a:t>
            </a:r>
            <a:r>
              <a:rPr lang="en" altLang="ko-Kore-KR" sz="1400" dirty="0"/>
              <a:t>DQN greedy </a:t>
            </a:r>
            <a:r>
              <a:rPr lang="ko-KR" altLang="en-US" sz="1400" dirty="0"/>
              <a:t>정책은 약 </a:t>
            </a:r>
            <a:r>
              <a:rPr lang="en-US" altLang="ko-KR" sz="1400" b="1" dirty="0"/>
              <a:t>+15.2</a:t>
            </a:r>
            <a:r>
              <a:rPr lang="ko-KR" altLang="en-US" sz="1400" dirty="0"/>
              <a:t>로</a:t>
            </a:r>
            <a:r>
              <a:rPr lang="en-US" altLang="ko-KR" sz="1400" dirty="0"/>
              <a:t>, </a:t>
            </a:r>
            <a:r>
              <a:rPr lang="ko-KR" altLang="en-US" sz="1400" dirty="0"/>
              <a:t>같은 환경에서 보상이 약 </a:t>
            </a:r>
            <a:r>
              <a:rPr lang="en-US" altLang="ko-KR" sz="1400" b="1" dirty="0"/>
              <a:t>60 </a:t>
            </a:r>
            <a:r>
              <a:rPr lang="ko-KR" altLang="en-US" sz="1400" b="1" dirty="0"/>
              <a:t>이상</a:t>
            </a:r>
            <a:r>
              <a:rPr lang="ko-KR" altLang="en-US" sz="1400" dirty="0"/>
              <a:t> 개선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동일한 코드 진행 위에서 랜덤 정책은 일관되게 음악적으로 좋지 않은 선택을 반복하지만</a:t>
            </a:r>
            <a:r>
              <a:rPr lang="en-US" altLang="ko-KR" sz="1400" dirty="0"/>
              <a:t>, </a:t>
            </a:r>
            <a:r>
              <a:rPr lang="en" altLang="ko-Kore-KR" sz="1400" dirty="0"/>
              <a:t>DQN</a:t>
            </a:r>
            <a:r>
              <a:rPr lang="ko-KR" altLang="en-US" sz="1400" dirty="0"/>
              <a:t>은 보상 설계 기준으로 볼 때 </a:t>
            </a:r>
            <a:r>
              <a:rPr lang="ko-KR" altLang="en-US" sz="1400" b="1" dirty="0"/>
              <a:t>더 자연스럽고 안정적인 멜로디 패턴을 학습</a:t>
            </a:r>
            <a:endParaRPr lang="en-US" altLang="ko-KR" sz="1400" b="1" dirty="0"/>
          </a:p>
          <a:p>
            <a:endParaRPr lang="en-US" altLang="ko-KR" sz="1400" b="1" dirty="0"/>
          </a:p>
          <a:p>
            <a:r>
              <a:rPr lang="ko-KR" altLang="en-US" sz="1400" dirty="0" err="1"/>
              <a:t>코드톤</a:t>
            </a:r>
            <a:r>
              <a:rPr lang="ko-KR" altLang="en-US" sz="1400" dirty="0"/>
              <a:t> 비율은 랜덤 정책에서 약 </a:t>
            </a:r>
            <a:r>
              <a:rPr lang="en-US" altLang="ko-KR" sz="1400" dirty="0"/>
              <a:t>5.5%</a:t>
            </a:r>
            <a:r>
              <a:rPr lang="ko-KR" altLang="en-US" sz="1400" dirty="0" err="1"/>
              <a:t>에</a:t>
            </a:r>
            <a:r>
              <a:rPr lang="ko-KR" altLang="en-US" sz="1400" dirty="0"/>
              <a:t> 불과하지만 </a:t>
            </a:r>
            <a:r>
              <a:rPr lang="en" altLang="ko-Kore-KR" sz="1400" dirty="0"/>
              <a:t>DQN</a:t>
            </a:r>
            <a:r>
              <a:rPr lang="ko-KR" altLang="en-US" sz="1400" dirty="0"/>
              <a:t>에서는 약 </a:t>
            </a:r>
            <a:r>
              <a:rPr lang="en-US" altLang="ko-KR" sz="1400" dirty="0"/>
              <a:t>30.5%</a:t>
            </a:r>
            <a:r>
              <a:rPr lang="ko-KR" altLang="en-US" sz="1400" dirty="0"/>
              <a:t>까지 증가하여</a:t>
            </a:r>
            <a:r>
              <a:rPr lang="en-US" altLang="ko-KR" sz="1400" dirty="0"/>
              <a:t>, </a:t>
            </a:r>
            <a:r>
              <a:rPr lang="en" altLang="ko-Kore-KR" sz="1400" dirty="0"/>
              <a:t>DQN</a:t>
            </a:r>
            <a:r>
              <a:rPr lang="ko-KR" altLang="en-US" sz="1400" dirty="0"/>
              <a:t>이 코드 안의 음을 약 </a:t>
            </a:r>
            <a:r>
              <a:rPr lang="en-US" altLang="ko-KR" sz="1400" b="1" dirty="0"/>
              <a:t>5–6</a:t>
            </a:r>
            <a:r>
              <a:rPr lang="ko-KR" altLang="en-US" sz="1400" b="1" dirty="0"/>
              <a:t>배</a:t>
            </a:r>
            <a:r>
              <a:rPr lang="ko-KR" altLang="en-US" sz="1400" dirty="0"/>
              <a:t> 더 자주 선택하며 코드 진행과 더 잘 어울리는 멜로디를 생성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평균 도약 크기는 랜덤이 약 </a:t>
            </a:r>
            <a:r>
              <a:rPr lang="en-US" altLang="ko-KR" sz="1400" b="1" dirty="0"/>
              <a:t>42.9 </a:t>
            </a:r>
            <a:r>
              <a:rPr lang="ko-KR" altLang="en-US" sz="1400" b="1" dirty="0" err="1"/>
              <a:t>세미톤</a:t>
            </a:r>
            <a:r>
              <a:rPr lang="ko-KR" altLang="en-US" sz="1400" dirty="0" err="1"/>
              <a:t>으로</a:t>
            </a:r>
            <a:r>
              <a:rPr lang="ko-KR" altLang="en-US" sz="1400" dirty="0"/>
              <a:t> 음역 전체를 무작위로 뛰어다니는 수준인 반면</a:t>
            </a:r>
            <a:r>
              <a:rPr lang="en-US" altLang="ko-KR" sz="1400" dirty="0"/>
              <a:t>, </a:t>
            </a:r>
            <a:r>
              <a:rPr lang="en" altLang="ko-Kore-KR" sz="1400" dirty="0"/>
              <a:t>DQN</a:t>
            </a:r>
            <a:r>
              <a:rPr lang="ko-KR" altLang="en-US" sz="1400" dirty="0"/>
              <a:t>은 약 </a:t>
            </a:r>
            <a:r>
              <a:rPr lang="en-US" altLang="ko-KR" sz="1400" b="1" dirty="0"/>
              <a:t>4.93 </a:t>
            </a:r>
            <a:r>
              <a:rPr lang="ko-KR" altLang="en-US" sz="1400" b="1" dirty="0" err="1"/>
              <a:t>세미톤</a:t>
            </a:r>
            <a:r>
              <a:rPr lang="ko-KR" altLang="en-US" sz="1400" dirty="0" err="1"/>
              <a:t>으로</a:t>
            </a:r>
            <a:r>
              <a:rPr lang="ko-KR" altLang="en-US" sz="1400" dirty="0"/>
              <a:t> 줄어 전통적인 선율 이론에서 권장하는 </a:t>
            </a:r>
            <a:r>
              <a:rPr lang="ko-KR" altLang="en-US" sz="1400" b="1" dirty="0"/>
              <a:t>작은 음정 위주의 진행</a:t>
            </a:r>
            <a:r>
              <a:rPr lang="ko-KR" altLang="en-US" sz="1400" dirty="0"/>
              <a:t>에 가까운 움직임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" altLang="ko-Kore-KR" sz="1400" dirty="0"/>
              <a:t>pitch </a:t>
            </a:r>
            <a:r>
              <a:rPr lang="ko-KR" altLang="en-US" sz="1400" dirty="0"/>
              <a:t>분산 역시 랜덤 정책은 </a:t>
            </a:r>
            <a:r>
              <a:rPr lang="en-US" altLang="ko-KR" sz="1400" b="1" dirty="0"/>
              <a:t>1328.86</a:t>
            </a:r>
            <a:r>
              <a:rPr lang="ko-KR" altLang="en-US" sz="1400" dirty="0" err="1"/>
              <a:t>으로</a:t>
            </a:r>
            <a:r>
              <a:rPr lang="ko-KR" altLang="en-US" sz="1400" dirty="0"/>
              <a:t> 매우 높은 반면 </a:t>
            </a:r>
            <a:r>
              <a:rPr lang="en" altLang="ko-Kore-KR" sz="1400" dirty="0"/>
              <a:t>DQN</a:t>
            </a:r>
            <a:r>
              <a:rPr lang="ko-KR" altLang="en-US" sz="1400" dirty="0"/>
              <a:t>은 </a:t>
            </a:r>
            <a:r>
              <a:rPr lang="en-US" altLang="ko-KR" sz="1400" b="1" dirty="0"/>
              <a:t>37.62</a:t>
            </a:r>
            <a:r>
              <a:rPr lang="ko-KR" altLang="en-US" sz="1400" dirty="0"/>
              <a:t> 수준으로 낮아</a:t>
            </a:r>
            <a:r>
              <a:rPr lang="en-US" altLang="ko-KR" sz="1400" dirty="0"/>
              <a:t>, </a:t>
            </a:r>
            <a:r>
              <a:rPr lang="en" altLang="ko-Kore-KR" sz="1400" dirty="0"/>
              <a:t>DQN</a:t>
            </a:r>
            <a:r>
              <a:rPr lang="ko-KR" altLang="en-US" sz="1400" dirty="0"/>
              <a:t>이 전체 음역을 마구 오르내리는 대신 </a:t>
            </a:r>
            <a:r>
              <a:rPr lang="ko-KR" altLang="en-US" sz="1400" b="1" dirty="0"/>
              <a:t>특정 음역대를 중심으로 보다 안정적인 선율을 형성하고 있음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105740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EB352-3F2F-5552-01B7-06A3F671D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1F83194-D94E-B6E9-8D4B-989DD30F5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ko-KR" altLang="en-US" sz="3200" b="1" dirty="0"/>
              <a:t>지표 비교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B71C58D-9C00-984A-E224-989E73318C6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820554" y="7162388"/>
            <a:ext cx="402946" cy="2141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41FECC59-7879-D77B-1F52-5A0ED99885D5}"/>
              </a:ext>
            </a:extLst>
          </p:cNvPr>
          <p:cNvSpPr txBox="1">
            <a:spLocks/>
          </p:cNvSpPr>
          <p:nvPr/>
        </p:nvSpPr>
        <p:spPr>
          <a:xfrm>
            <a:off x="750236" y="1190625"/>
            <a:ext cx="1853263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sz="1800" dirty="0"/>
              <a:t>주관적 평가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1EC4FC9F-4BE5-1159-839E-6172142A913F}"/>
              </a:ext>
            </a:extLst>
          </p:cNvPr>
          <p:cNvSpPr txBox="1">
            <a:spLocks/>
          </p:cNvSpPr>
          <p:nvPr/>
        </p:nvSpPr>
        <p:spPr>
          <a:xfrm>
            <a:off x="750235" y="2714625"/>
            <a:ext cx="1853263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ko-KR" altLang="en-US" sz="1800" dirty="0"/>
              <a:t>랜덤 </a:t>
            </a:r>
            <a:r>
              <a:rPr lang="ko-KR" altLang="en-US" sz="1800" dirty="0" err="1"/>
              <a:t>폴리시</a:t>
            </a:r>
            <a:r>
              <a:rPr lang="ko-KR" altLang="en-US" sz="1800" dirty="0"/>
              <a:t> 음악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BE276D6-6105-DEC6-43D2-0EBD5E89420A}"/>
              </a:ext>
            </a:extLst>
          </p:cNvPr>
          <p:cNvSpPr txBox="1">
            <a:spLocks/>
          </p:cNvSpPr>
          <p:nvPr/>
        </p:nvSpPr>
        <p:spPr>
          <a:xfrm>
            <a:off x="750235" y="4592996"/>
            <a:ext cx="1853263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r>
              <a:rPr lang="en-US" altLang="ko-KR" sz="1800" dirty="0"/>
              <a:t>DQN </a:t>
            </a:r>
            <a:r>
              <a:rPr lang="ko-KR" altLang="en-US" sz="1800" dirty="0" err="1"/>
              <a:t>폴리시</a:t>
            </a:r>
            <a:r>
              <a:rPr lang="ko-KR" altLang="en-US" sz="1800" dirty="0"/>
              <a:t> 음악</a:t>
            </a:r>
          </a:p>
        </p:txBody>
      </p:sp>
      <p:pic>
        <p:nvPicPr>
          <p:cNvPr id="6" name="random.mp3">
            <a:hlinkClick r:id="" action="ppaction://media"/>
            <a:extLst>
              <a:ext uri="{FF2B5EF4-FFF2-40B4-BE49-F238E27FC236}">
                <a16:creationId xmlns:a16="http://schemas.microsoft.com/office/drawing/2014/main" id="{4A37822A-6904-59B4-5139-42974D9C05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962442" y="2455060"/>
            <a:ext cx="812800" cy="812800"/>
          </a:xfrm>
          <a:prstGeom prst="rect">
            <a:avLst/>
          </a:prstGeom>
        </p:spPr>
      </p:pic>
      <p:pic>
        <p:nvPicPr>
          <p:cNvPr id="7" name="policy.mp3">
            <a:hlinkClick r:id="" action="ppaction://media"/>
            <a:extLst>
              <a:ext uri="{FF2B5EF4-FFF2-40B4-BE49-F238E27FC236}">
                <a16:creationId xmlns:a16="http://schemas.microsoft.com/office/drawing/2014/main" id="{9AE31CC3-8219-97D6-55EC-DC564A793FE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984500" y="4346627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4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403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48FCE-2DA5-8313-AD70-C6FDB28C3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8050CD-4EE9-6549-4081-EBF48AA60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ko-KR" altLang="en-US" dirty="0"/>
              <a:t>결론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9856C28-BDEF-ECF0-3FF3-1BA33FAE650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820554" y="7162388"/>
            <a:ext cx="479146" cy="2141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13</a:t>
            </a:fld>
            <a:endParaRPr spc="-5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3E1C2DC-054B-5C25-E3B8-725A5BDAD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05" y="906291"/>
            <a:ext cx="10058400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프로젝트에서는 미리 주어진 </a:t>
            </a:r>
            <a:r>
              <a:rPr lang="en-US" altLang="ko-KR" dirty="0"/>
              <a:t>64-</a:t>
            </a:r>
            <a:r>
              <a:rPr lang="en" altLang="ko-Kore-KR" dirty="0"/>
              <a:t>step </a:t>
            </a:r>
            <a:r>
              <a:rPr lang="ko-KR" altLang="en-US" dirty="0"/>
              <a:t>코드 진행 위에서 </a:t>
            </a:r>
            <a:r>
              <a:rPr lang="en" altLang="ko-Kore-KR" dirty="0"/>
              <a:t>DQN </a:t>
            </a:r>
            <a:r>
              <a:rPr lang="ko-KR" altLang="en-US" dirty="0"/>
              <a:t>기반 강화학습 에이전트를 학습시켜</a:t>
            </a:r>
            <a:r>
              <a:rPr lang="en-US" altLang="ko-KR" dirty="0"/>
              <a:t>, </a:t>
            </a:r>
            <a:r>
              <a:rPr lang="ko-KR" altLang="en-US" dirty="0"/>
              <a:t>코드에 어울리는 </a:t>
            </a:r>
            <a:r>
              <a:rPr lang="ko-KR" altLang="en-US" dirty="0" err="1"/>
              <a:t>단선율</a:t>
            </a:r>
            <a:r>
              <a:rPr lang="ko-KR" altLang="en-US" dirty="0"/>
              <a:t> 멜로디를 생성하는 실험을 수행하였다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상태는 최근 멜로디 </a:t>
            </a:r>
            <a:r>
              <a:rPr lang="en-US" altLang="ko-KR" dirty="0"/>
              <a:t>(</a:t>
            </a:r>
            <a:r>
              <a:rPr lang="en" altLang="ko-Kore-KR" dirty="0"/>
              <a:t>pitch, velocity) </a:t>
            </a:r>
            <a:r>
              <a:rPr lang="ko-KR" altLang="en-US" dirty="0"/>
              <a:t>이력과 현재 코드 정보를 결합하여 구성하고</a:t>
            </a:r>
            <a:r>
              <a:rPr lang="en-US" altLang="ko-KR" dirty="0"/>
              <a:t>, </a:t>
            </a:r>
            <a:r>
              <a:rPr lang="ko-KR" altLang="en-US" dirty="0"/>
              <a:t>행동은 사전에 정의된 </a:t>
            </a:r>
            <a:r>
              <a:rPr lang="en" altLang="ko-Kore-KR" dirty="0"/>
              <a:t>pitch/velocity </a:t>
            </a:r>
            <a:r>
              <a:rPr lang="ko-KR" altLang="en-US" dirty="0"/>
              <a:t>조합으로 이루어진 불연속 공간으로 정의하였다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보상 함수는 </a:t>
            </a:r>
            <a:r>
              <a:rPr lang="ko-KR" altLang="en-US" dirty="0" err="1"/>
              <a:t>코드톤</a:t>
            </a:r>
            <a:r>
              <a:rPr lang="ko-KR" altLang="en-US" dirty="0"/>
              <a:t> 사용 여부</a:t>
            </a:r>
            <a:r>
              <a:rPr lang="en-US" altLang="ko-KR" dirty="0"/>
              <a:t>, </a:t>
            </a:r>
            <a:r>
              <a:rPr lang="ko-KR" altLang="en-US" dirty="0"/>
              <a:t>음정 진행의 크기</a:t>
            </a:r>
            <a:r>
              <a:rPr lang="en-US" altLang="ko-KR" dirty="0"/>
              <a:t>, </a:t>
            </a:r>
            <a:r>
              <a:rPr lang="ko-KR" altLang="en-US" dirty="0"/>
              <a:t>코드 및 직전 음과의 다이내믹 차이를 바탕으로 설계하여</a:t>
            </a:r>
            <a:r>
              <a:rPr lang="en-US" altLang="ko-KR" dirty="0"/>
              <a:t>, </a:t>
            </a:r>
            <a:r>
              <a:rPr lang="ko-KR" altLang="en-US" dirty="0"/>
              <a:t>음악 이론적으로 자연스러운 선율을 유도하도록 하였다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실험 결과</a:t>
            </a:r>
            <a:r>
              <a:rPr lang="en-US" altLang="ko-KR" dirty="0"/>
              <a:t>, </a:t>
            </a:r>
            <a:r>
              <a:rPr lang="ko-KR" altLang="en-US" dirty="0"/>
              <a:t>학습되지 않은 랜덤 정책은 에피소드당 평균 </a:t>
            </a:r>
            <a:r>
              <a:rPr lang="en" altLang="ko-Kore-KR" dirty="0"/>
              <a:t>return</a:t>
            </a:r>
            <a:r>
              <a:rPr lang="ko-KR" altLang="en-US" dirty="0"/>
              <a:t>이 약 </a:t>
            </a:r>
            <a:r>
              <a:rPr lang="en-US" altLang="ko-KR" dirty="0"/>
              <a:t>-45.9</a:t>
            </a:r>
            <a:r>
              <a:rPr lang="ko-KR" altLang="en-US" dirty="0"/>
              <a:t>로 일관되게 큰 음수 보상을 기록한 반면</a:t>
            </a:r>
            <a:r>
              <a:rPr lang="en-US" altLang="ko-KR" dirty="0"/>
              <a:t>, </a:t>
            </a:r>
            <a:r>
              <a:rPr lang="ko-KR" altLang="en-US" dirty="0"/>
              <a:t>학습된 </a:t>
            </a:r>
            <a:r>
              <a:rPr lang="en" altLang="ko-Kore-KR" dirty="0"/>
              <a:t>DQN </a:t>
            </a:r>
            <a:r>
              <a:rPr lang="ko-KR" altLang="en-US" dirty="0"/>
              <a:t>정책은 평균 </a:t>
            </a:r>
            <a:r>
              <a:rPr lang="en" altLang="ko-Kore-KR" dirty="0"/>
              <a:t>return</a:t>
            </a:r>
            <a:r>
              <a:rPr lang="ko-KR" altLang="en-US" dirty="0"/>
              <a:t>이 약 </a:t>
            </a:r>
            <a:r>
              <a:rPr lang="en-US" altLang="ko-KR" dirty="0"/>
              <a:t>+15.2</a:t>
            </a:r>
            <a:r>
              <a:rPr lang="ko-KR" altLang="en-US" dirty="0"/>
              <a:t>로 개선되며 보상이 플러스로 유지되는 양상을 보였다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음악 이론 기반 지표에서도 </a:t>
            </a:r>
            <a:r>
              <a:rPr lang="en" altLang="ko-Kore-KR" dirty="0"/>
              <a:t>DQN</a:t>
            </a:r>
            <a:r>
              <a:rPr lang="ko-KR" altLang="en-US" dirty="0"/>
              <a:t>은 코드 스케일 안에 포함되는 음의 비율을 랜덤의 약 </a:t>
            </a:r>
            <a:r>
              <a:rPr lang="en-US" altLang="ko-KR" dirty="0"/>
              <a:t>5.5%</a:t>
            </a:r>
            <a:r>
              <a:rPr lang="ko-KR" altLang="en-US" dirty="0"/>
              <a:t>에서 </a:t>
            </a:r>
            <a:r>
              <a:rPr lang="en-US" altLang="ko-KR" dirty="0"/>
              <a:t>30.5% </a:t>
            </a:r>
            <a:r>
              <a:rPr lang="ko-KR" altLang="en-US" dirty="0"/>
              <a:t>수준으로 끌어올렸고</a:t>
            </a:r>
            <a:r>
              <a:rPr lang="en-US" altLang="ko-KR" dirty="0"/>
              <a:t>, </a:t>
            </a:r>
            <a:r>
              <a:rPr lang="ko-KR" altLang="en-US" dirty="0"/>
              <a:t>평균 도약 크기를 약 </a:t>
            </a:r>
            <a:r>
              <a:rPr lang="en-US" altLang="ko-KR" dirty="0"/>
              <a:t>42.9 </a:t>
            </a:r>
            <a:r>
              <a:rPr lang="ko-KR" altLang="en-US" dirty="0" err="1"/>
              <a:t>세미톤에서</a:t>
            </a:r>
            <a:r>
              <a:rPr lang="ko-KR" altLang="en-US" dirty="0"/>
              <a:t> </a:t>
            </a:r>
            <a:r>
              <a:rPr lang="en-US" altLang="ko-KR" dirty="0"/>
              <a:t>4.9 </a:t>
            </a:r>
            <a:r>
              <a:rPr lang="ko-KR" altLang="en-US" dirty="0" err="1"/>
              <a:t>세미톤</a:t>
            </a:r>
            <a:r>
              <a:rPr lang="ko-KR" altLang="en-US" dirty="0"/>
              <a:t> 정도로 크게 줄여</a:t>
            </a:r>
            <a:r>
              <a:rPr lang="en-US" altLang="ko-KR" dirty="0"/>
              <a:t>, </a:t>
            </a:r>
            <a:r>
              <a:rPr lang="ko-KR" altLang="en-US" dirty="0"/>
              <a:t>작은 음정 위주의 안정적인 진행을 만들어냈다</a:t>
            </a:r>
            <a:r>
              <a:rPr lang="en-US" altLang="ko-KR" dirty="0"/>
              <a:t>. </a:t>
            </a:r>
          </a:p>
          <a:p>
            <a:endParaRPr lang="en-US" altLang="ko-Kore-KR" dirty="0"/>
          </a:p>
          <a:p>
            <a:r>
              <a:rPr lang="en" altLang="ko-Kore-KR" dirty="0"/>
              <a:t>pitch </a:t>
            </a:r>
            <a:r>
              <a:rPr lang="ko-KR" altLang="en-US" dirty="0"/>
              <a:t>분산 역시 랜덤 정책에 비해 크게 감소하여</a:t>
            </a:r>
            <a:r>
              <a:rPr lang="en-US" altLang="ko-KR" dirty="0"/>
              <a:t>, </a:t>
            </a:r>
            <a:r>
              <a:rPr lang="ko-KR" altLang="en-US" dirty="0"/>
              <a:t>사용 가능한 전체 음역을 무작위로 오르내리기보다는 특정 </a:t>
            </a:r>
            <a:r>
              <a:rPr lang="ko-KR" altLang="en-US" dirty="0" err="1"/>
              <a:t>음역대</a:t>
            </a:r>
            <a:r>
              <a:rPr lang="ko-KR" altLang="en-US" dirty="0"/>
              <a:t> 중심의 비교적 일관된 멜로디를 형성하는 경향을 보였다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이러한 결과는 제안한 </a:t>
            </a:r>
            <a:r>
              <a:rPr lang="en" altLang="ko-Kore-KR" dirty="0"/>
              <a:t>DQN </a:t>
            </a:r>
            <a:r>
              <a:rPr lang="ko-KR" altLang="en-US" dirty="0"/>
              <a:t>기반 접근이</a:t>
            </a:r>
            <a:r>
              <a:rPr lang="en-US" altLang="ko-KR" dirty="0"/>
              <a:t>, </a:t>
            </a:r>
            <a:r>
              <a:rPr lang="ko-KR" altLang="en-US" dirty="0"/>
              <a:t>최소한 주어진 코드 진행 위에서 “전통적인 음악 이론에 더 부합하는” 멜로디 패턴을 어느 정도 학습할 수 있음을 보여준다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ore-KR" altLang="ko-Kore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966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116A7-F146-8552-C3C3-CBD38C97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B29EFAE-A52E-DD8A-6909-1813D61E4E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16" y="327140"/>
            <a:ext cx="6979384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ko-KR" altLang="en-US" spc="-25" dirty="0"/>
              <a:t>보완 및 개선사항</a:t>
            </a:r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055CCFB-9A7A-683D-E8B0-BE777305FBD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9820554" y="7162388"/>
            <a:ext cx="479146" cy="2141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pc="-50" dirty="0"/>
              <a:t>14</a:t>
            </a:fld>
            <a:endParaRPr spc="-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2">
                <a:extLst>
                  <a:ext uri="{FF2B5EF4-FFF2-40B4-BE49-F238E27FC236}">
                    <a16:creationId xmlns:a16="http://schemas.microsoft.com/office/drawing/2014/main" id="{094AD279-B0F9-2496-7C8F-3E86C4655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637" y="1114425"/>
                <a:ext cx="10058400" cy="56323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ko-KR" altLang="en-US" dirty="0"/>
                  <a:t>첫째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환경과 보상 설계 측면에서 </a:t>
                </a:r>
                <a:r>
                  <a:rPr lang="ko-KR" altLang="en-US" b="1" dirty="0"/>
                  <a:t>장기적인 구조를 충분히 반영하지 못했다</a:t>
                </a:r>
                <a:r>
                  <a:rPr lang="ko-KR" altLang="en-US" dirty="0"/>
                  <a:t>는 한계가 있다</a:t>
                </a:r>
                <a:r>
                  <a:rPr lang="en-US" altLang="ko-KR" dirty="0"/>
                  <a:t>. </a:t>
                </a:r>
              </a:p>
              <a:p>
                <a:r>
                  <a:rPr lang="ko-KR" altLang="en-US" dirty="0"/>
                  <a:t>현재 보상은 대부분 단일 </a:t>
                </a:r>
                <a:r>
                  <a:rPr lang="en" altLang="ko-Kore-KR" dirty="0"/>
                  <a:t>step</a:t>
                </a:r>
                <a:r>
                  <a:rPr lang="ko-KR" altLang="en-US" dirty="0"/>
                  <a:t>에서의 코드 적합도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직전 음과의 관계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다이내믹 변화에 집중되어 있고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다른 특성들은 반영하지 못했다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 때문에 이전 </a:t>
                </a:r>
                <a:r>
                  <a:rPr lang="en" altLang="ko-Kore-KR" dirty="0"/>
                  <a:t>state</a:t>
                </a:r>
                <a:r>
                  <a:rPr lang="ko-KR" altLang="en-US" dirty="0"/>
                  <a:t>에서의 </a:t>
                </a:r>
                <a:r>
                  <a:rPr lang="en" altLang="ko-Kore-KR" dirty="0"/>
                  <a:t>action</a:t>
                </a:r>
                <a:r>
                  <a:rPr lang="ko-KR" altLang="en-US" dirty="0"/>
                  <a:t>들이 먼 미래 </a:t>
                </a:r>
                <a:r>
                  <a:rPr lang="en" altLang="ko-Kore-KR" dirty="0"/>
                  <a:t>step</a:t>
                </a:r>
                <a:r>
                  <a:rPr lang="ko-KR" altLang="en-US" dirty="0"/>
                  <a:t>의 가치에 충분히 연결되지 못했고</a:t>
                </a:r>
                <a:r>
                  <a:rPr lang="en-US" altLang="ko-KR" dirty="0"/>
                  <a:t>, </a:t>
                </a:r>
              </a:p>
              <a:p>
                <a:r>
                  <a:rPr lang="ko-KR" altLang="en-US" dirty="0"/>
                  <a:t>할인율 </a:t>
                </a:r>
                <a14:m>
                  <m:oMath xmlns:m="http://schemas.openxmlformats.org/officeDocument/2006/math">
                    <m:r>
                      <a:rPr lang="ko-KR" altLang="en-US" i="1"/>
                      <m:t>𝛾</m:t>
                    </m:r>
                    <m:r>
                      <a:rPr lang="en-US" altLang="ko-KR"/>
                      <m:t>=0.99</m:t>
                    </m:r>
                  </m:oMath>
                </a14:m>
                <a:r>
                  <a:rPr lang="ko-KR" altLang="en-US" dirty="0"/>
                  <a:t>로 학습이 잘 진행되지 않는 문제를 경험했다</a:t>
                </a:r>
                <a:r>
                  <a:rPr lang="en-US" altLang="ko-KR" dirty="0"/>
                  <a:t>. 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결과적으로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이번 실험에서의 </a:t>
                </a:r>
                <a:r>
                  <a:rPr lang="en" altLang="ko-Kore-KR" dirty="0"/>
                  <a:t>DQN</a:t>
                </a:r>
                <a:r>
                  <a:rPr lang="ko-KR" altLang="en-US" dirty="0"/>
                  <a:t>은 “</a:t>
                </a:r>
                <a:r>
                  <a:rPr lang="ko-KR" altLang="en-US" dirty="0" err="1"/>
                  <a:t>프레이즈</a:t>
                </a:r>
                <a:r>
                  <a:rPr lang="ko-KR" altLang="en-US" dirty="0"/>
                  <a:t> 전체의 구조를 설계하는 </a:t>
                </a:r>
                <a:r>
                  <a:rPr lang="ko-KR" altLang="en-US" dirty="0" err="1"/>
                  <a:t>작곡가”라기보다는</a:t>
                </a:r>
                <a:r>
                  <a:rPr lang="en-US" altLang="ko-KR" dirty="0"/>
                  <a:t>, “</a:t>
                </a:r>
                <a:r>
                  <a:rPr lang="ko-KR" altLang="en-US" dirty="0"/>
                  <a:t>주어진 순간에 국지적으로 괜찮은 음을 고르는 </a:t>
                </a:r>
                <a:r>
                  <a:rPr lang="ko-KR" altLang="en-US" dirty="0" err="1"/>
                  <a:t>연주자”에</a:t>
                </a:r>
                <a:r>
                  <a:rPr lang="ko-KR" altLang="en-US" dirty="0"/>
                  <a:t> 가까운 정책을 학습한 것으로 해석할 수 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둘째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애초의 목표였던 “곡 전체 멜로디를 처음부터 강화학습으로 생성하는 </a:t>
                </a:r>
                <a:r>
                  <a:rPr lang="ko-KR" altLang="en-US" dirty="0" err="1"/>
                  <a:t>문제”까지는</a:t>
                </a:r>
                <a:r>
                  <a:rPr lang="ko-KR" altLang="en-US" dirty="0"/>
                  <a:t> 확장하지 못했다는 점이 아쉽다</a:t>
                </a:r>
                <a:r>
                  <a:rPr lang="en-US" altLang="ko-KR" dirty="0"/>
                  <a:t>. </a:t>
                </a:r>
              </a:p>
              <a:p>
                <a:r>
                  <a:rPr lang="ko-KR" altLang="en-US" dirty="0"/>
                  <a:t>실제 곡 단위의 멜로디 데이터를 그대로 환경에 넣으면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상태 공간과 행동 공간이 폭발적으로 커질 뿐 아니라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매 </a:t>
                </a:r>
                <a:r>
                  <a:rPr lang="en" altLang="ko-Kore-KR" dirty="0"/>
                  <a:t>step</a:t>
                </a:r>
                <a:r>
                  <a:rPr lang="ko-KR" altLang="en-US" dirty="0"/>
                  <a:t>의 보상을 어떻게 정의할지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데이터 기반 통계와 </a:t>
                </a:r>
                <a:r>
                  <a:rPr lang="en" altLang="ko-Kore-KR" dirty="0"/>
                  <a:t>RL </a:t>
                </a:r>
                <a:r>
                  <a:rPr lang="ko-KR" altLang="en-US" dirty="0"/>
                  <a:t>보상 설계를 어떻게 결합할지에 대한 감이 명확하지 않았다</a:t>
                </a:r>
                <a:r>
                  <a:rPr lang="en-US" altLang="ko-KR" dirty="0"/>
                  <a:t>. 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또한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멜로디까지 포함한 완전한 환경을 구성할 경우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에이전트가 학습을 시작하기 전에 참조해야 할 데이터의 양이 매우 방대해지고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학습이 불안정해질 가능성도 커서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이번 프로젝트에서는 코드를 고정된 환경으로 두고 멜로디만 </a:t>
                </a:r>
                <a:r>
                  <a:rPr lang="en" altLang="ko-Kore-KR" dirty="0"/>
                  <a:t>RL</a:t>
                </a:r>
                <a:r>
                  <a:rPr lang="ko-KR" altLang="en-US" dirty="0"/>
                  <a:t>로 생성하는 “제한된 </a:t>
                </a:r>
                <a:r>
                  <a:rPr lang="ko-KR" altLang="en-US" dirty="0" err="1"/>
                  <a:t>설정”에</a:t>
                </a:r>
                <a:r>
                  <a:rPr lang="ko-KR" altLang="en-US" dirty="0"/>
                  <a:t> 머무르게 되었다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ore-KR" altLang="ko-Kore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Rectangle 2">
                <a:extLst>
                  <a:ext uri="{FF2B5EF4-FFF2-40B4-BE49-F238E27FC236}">
                    <a16:creationId xmlns:a16="http://schemas.microsoft.com/office/drawing/2014/main" id="{094AD279-B0F9-2496-7C8F-3E86C4655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637" y="1114425"/>
                <a:ext cx="10058400" cy="5632311"/>
              </a:xfrm>
              <a:prstGeom prst="rect">
                <a:avLst/>
              </a:prstGeom>
              <a:blipFill>
                <a:blip r:embed="rId3"/>
                <a:stretch>
                  <a:fillRect l="-378" r="-12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942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Words>1732</Words>
  <Application>Microsoft Macintosh PowerPoint</Application>
  <PresentationFormat>사용자 지정</PresentationFormat>
  <Paragraphs>175</Paragraphs>
  <Slides>14</Slides>
  <Notes>2</Notes>
  <HiddenSlides>0</HiddenSlides>
  <MMClips>2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Aptos</vt:lpstr>
      <vt:lpstr>Arial</vt:lpstr>
      <vt:lpstr>Malgun Gothic</vt:lpstr>
      <vt:lpstr>Office Theme</vt:lpstr>
      <vt:lpstr>강화학습 프로젝트</vt:lpstr>
      <vt:lpstr>프로젝트 주제 및 목표 </vt:lpstr>
      <vt:lpstr>데이터셋 및 전처리</vt:lpstr>
      <vt:lpstr>강화학습 환경 개요</vt:lpstr>
      <vt:lpstr>State 설계</vt:lpstr>
      <vt:lpstr>Action 설계</vt:lpstr>
      <vt:lpstr>Reward 설계</vt:lpstr>
      <vt:lpstr>알고리즘</vt:lpstr>
      <vt:lpstr>실험 셋업</vt:lpstr>
      <vt:lpstr>실험 결과</vt:lpstr>
      <vt:lpstr>지표 비교</vt:lpstr>
      <vt:lpstr>지표 비교</vt:lpstr>
      <vt:lpstr>결론</vt:lpstr>
      <vt:lpstr>보완 및 개선사항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RL_project_handout</dc:title>
  <cp:lastModifiedBy>제스트 우리는</cp:lastModifiedBy>
  <cp:revision>2</cp:revision>
  <dcterms:created xsi:type="dcterms:W3CDTF">2025-12-07T11:26:03Z</dcterms:created>
  <dcterms:modified xsi:type="dcterms:W3CDTF">2025-12-07T14:39:30Z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2025-09-29T00:00:00Z</vt:filetime>
  </property>
  <property fmtid="{D5CDD505-2E9C-101B-9397-08002B2CF9AE}" pid="3" name="LastSaved">
    <vt:filetime>2025-12-07T00:00:00Z</vt:filetime>
  </property>
  <property fmtid="{D5CDD505-2E9C-101B-9397-08002B2CF9AE}" pid="4" name="Producer">
    <vt:lpwstr>Microsoft: Print To PDF</vt:lpwstr>
  </property>
</Properties>
</file>